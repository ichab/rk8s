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ust_unsafe_static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ust_unsafe_static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47" y="370999"/>
            <a:ext cx="8492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/ 评审范围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8170" y="633412"/>
            <a:ext cx="471658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规范条目与 C++ 静态检测对应关系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066800"/>
            <a:ext cx="109728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4838" y="6475095"/>
            <a:ext cx="20896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Rust Unsafe 规范静态检测可行性评审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7700" y="6475095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2742" y="1235392"/>
            <a:ext cx="59837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核心判断：已有 C++ 工具为 Rust Unsafe 规则提供了可复用的分析思路。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1619250"/>
            <a:ext cx="2667000" cy="400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7804" y="1746885"/>
            <a:ext cx="10884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Rust 规范条目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619250"/>
            <a:ext cx="2476500" cy="400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441954" y="1746885"/>
            <a:ext cx="1061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对应 C++ 规范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810250" y="1619250"/>
            <a:ext cx="5162550" cy="400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918454" y="1746885"/>
            <a:ext cx="13309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C++ 工具解决办法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" y="2019300"/>
            <a:ext cx="266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333750" y="2019300"/>
            <a:ext cx="2476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810250" y="2019300"/>
            <a:ext cx="51625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18566" y="22012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未初始化内存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43097" y="2209324"/>
            <a:ext cx="10484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EXP53-CPP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19788" y="2141220"/>
            <a:ext cx="32968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core.uninitialized.* / CodeQL cpp/uninitialized-lo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19788" y="2312670"/>
            <a:ext cx="16330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cal；跟踪初始化状态与控制流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2514600"/>
            <a:ext cx="26670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333750" y="2514600"/>
            <a:ext cx="24765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810250" y="2514600"/>
            <a:ext cx="516255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18566" y="2696528"/>
            <a:ext cx="1125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FFI 返回指针判空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43097" y="2704624"/>
            <a:ext cx="8950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EXP34-C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19788" y="2712720"/>
            <a:ext cx="40630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core.NullDereference / CodeQL 空值查询；利用路径约束识别风险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" y="3009900"/>
            <a:ext cx="266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3333750" y="3009900"/>
            <a:ext cx="2476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810250" y="3009900"/>
            <a:ext cx="51625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8566" y="31918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返回局部栈地址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43097" y="3199924"/>
            <a:ext cx="10484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EXP54-CPP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19788" y="3208020"/>
            <a:ext cx="45705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core.StackAddressEscape / CodeQL 栈地址逃逸；追踪地址来源与生命周期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3505200"/>
            <a:ext cx="26670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3333750" y="3505200"/>
            <a:ext cx="24765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810250" y="3505200"/>
            <a:ext cx="516255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18566" y="3687128"/>
            <a:ext cx="11696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Use-After-Free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43097" y="3695224"/>
            <a:ext cx="11041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MEM50-CPP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19788" y="3627120"/>
            <a:ext cx="29575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unix.Malloc / CodeQL cpp/use-after-free；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19788" y="379857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跟踪分配、别名、释放、访问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9600" y="4000500"/>
            <a:ext cx="266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3333750" y="4000500"/>
            <a:ext cx="2476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810250" y="4000500"/>
            <a:ext cx="51625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18566" y="4182428"/>
            <a:ext cx="843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Double Free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443097" y="4190524"/>
            <a:ext cx="18568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MEM30-C / MEM50-CPP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19788" y="4198620"/>
            <a:ext cx="40594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unix.Malloc / CodeQL cpp/double-free；识别同一对象的重复释放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09600" y="4495800"/>
            <a:ext cx="26670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3333750" y="4495800"/>
            <a:ext cx="247650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810250" y="4495800"/>
            <a:ext cx="5162550" cy="495300"/>
          </a:xfrm>
          <a:prstGeom prst="rect">
            <a:avLst/>
          </a:prstGeom>
          <a:solidFill>
            <a:schemeClr val="accent5"/>
          </a:solidFill>
          <a:ln w="9525">
            <a:solidFill>
              <a:srgbClr val="D9E2E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18566" y="4677728"/>
            <a:ext cx="9412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Memory Leak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443097" y="4685824"/>
            <a:ext cx="11041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CERT MEM51-CPP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919788" y="4617720"/>
            <a:ext cx="327257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 unix.Malloc / CodeQL cpp/memory-never-freed；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919788" y="4789170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分析释放与所有权转移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" y="4991100"/>
            <a:ext cx="2667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3333750" y="4991100"/>
            <a:ext cx="2476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810250" y="4991100"/>
            <a:ext cx="51625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718566" y="5173028"/>
            <a:ext cx="11643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RAII / 释放后置空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43097" y="5181124"/>
            <a:ext cx="22479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C++ Core Guidelines R.1/R.11/R.12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19788" y="5189220"/>
            <a:ext cx="24690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clang-tidy 所有权检查；后置空仅是辅助建议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" y="5562600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E7F8F3"/>
          </a:solidFill>
          <a:ln w="9525">
            <a:solidFill>
              <a:schemeClr val="accent2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94385" y="568880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67A63"/>
                </a:solidFill>
                <a:latin typeface="+mn-lt"/>
                <a:ea typeface="+mn-ea"/>
                <a:cs typeface="+mn-cs"/>
              </a:rPr>
              <a:t>结论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22654" y="5680710"/>
            <a:ext cx="68761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这些条目可以用静态分析实现部分支持；Double Free、典型 Memory Leak 已有相关解决办法。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22654" y="5886450"/>
            <a:ext cx="55391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复杂别名、跨函数调用与 FFI 行为未知时，需要明确边界并允许输出“未知”。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47" y="370999"/>
            <a:ext cx="8492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/ 典型条目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8170" y="633412"/>
            <a:ext cx="588775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Use-After-Free：C++ 工具如何进行检测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066800"/>
            <a:ext cx="109728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4838" y="6475095"/>
            <a:ext cx="20896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Rust Unsafe 规范静态检测可行性评审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7700" y="6475095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123" y="1243489"/>
            <a:ext cx="77738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6C5D6"/>
                </a:solidFill>
                <a:latin typeface="+mn-lt"/>
                <a:ea typeface="+mn-ea"/>
                <a:cs typeface="+mn-cs"/>
              </a:rPr>
              <a:t>以 Clang Static Analyzer 的 unix.Malloc 检查器为例；CodeQL 采用相近的数据流与资源关系查询。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1714500"/>
            <a:ext cx="4333875" cy="4095750"/>
          </a:xfrm>
          <a:prstGeom prst="roundRect">
            <a:avLst>
              <a:gd name="adj" fmla="val 3256"/>
            </a:avLst>
          </a:prstGeom>
          <a:solidFill>
            <a:srgbClr val="101B2D"/>
          </a:solidFill>
          <a:ln w="9525">
            <a:solidFill>
              <a:srgbClr val="253A5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32104" y="19278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典型代码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342" y="2378392"/>
            <a:ext cx="35121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int* p = (int*)malloc(sizeof(int));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652712"/>
            <a:ext cx="11132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int* q = p;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342" y="2927032"/>
            <a:ext cx="8133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free(p);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1342" y="3201352"/>
            <a:ext cx="26465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*q = 10; // Use-After-Free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38200" y="4429125"/>
            <a:ext cx="3714750" cy="1000125"/>
          </a:xfrm>
          <a:prstGeom prst="roundRect">
            <a:avLst>
              <a:gd name="adj" fmla="val 9524"/>
            </a:avLst>
          </a:prstGeom>
          <a:solidFill>
            <a:srgbClr val="15263D"/>
          </a:solidFill>
          <a:ln w="9525">
            <a:solidFill>
              <a:schemeClr val="accent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23366" y="4601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关键事实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2604" y="48520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q 与 p 指向同一堆对象；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604" y="507301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free(p) 后，q 仍然可达。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23154" y="1794510"/>
            <a:ext cx="16233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Clang 的资源状态流转</a:t>
            </a:r>
          </a:p>
        </p:txBody>
      </p:sp>
      <p:sp>
        <p:nvSpPr>
          <p:cNvPr id="19" name="Ellipse 19"/>
          <p:cNvSpPr/>
          <p:nvPr/>
        </p:nvSpPr>
        <p:spPr>
          <a:xfrm>
            <a:off x="5581650" y="215265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757508" y="23183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31636" y="2189321"/>
            <a:ext cx="6453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malloc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32779" y="2470785"/>
            <a:ext cx="14217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6E1EC"/>
                </a:solidFill>
                <a:latin typeface="+mn-lt"/>
                <a:ea typeface="+mn-ea"/>
                <a:cs typeface="+mn-cs"/>
              </a:rPr>
              <a:t>对象 M = Allocated</a:t>
            </a:r>
          </a:p>
        </p:txBody>
      </p:sp>
      <p:sp>
        <p:nvSpPr>
          <p:cNvPr id="23" name="Line 23"/>
          <p:cNvSpPr/>
          <p:nvPr/>
        </p:nvSpPr>
        <p:spPr>
          <a:xfrm>
            <a:off x="5810250" y="2619375"/>
            <a:ext cx="9525" cy="295275"/>
          </a:xfrm>
          <a:custGeom>
            <a:avLst/>
            <a:gdLst/>
            <a:ahLst/>
            <a:cxnLst/>
            <a:rect l="l" t="t" r="r" b="b"/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/>
          <a:ln w="19050">
            <a:solidFill>
              <a:srgbClr val="4A6580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5581650" y="29146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757508" y="30803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1636" y="2951321"/>
            <a:ext cx="5401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 = 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32779" y="32327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6E1EC"/>
                </a:solidFill>
                <a:latin typeface="+mn-lt"/>
                <a:ea typeface="+mn-ea"/>
                <a:cs typeface="+mn-cs"/>
              </a:rPr>
              <a:t>建立指针别名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3381375"/>
            <a:ext cx="9525" cy="295275"/>
          </a:xfrm>
          <a:custGeom>
            <a:avLst/>
            <a:gdLst/>
            <a:ahLst/>
            <a:cxnLst/>
            <a:rect l="l" t="t" r="r" b="b"/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/>
          <a:ln w="19050">
            <a:solidFill>
              <a:srgbClr val="4A6580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5581650" y="36766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757508" y="38423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31636" y="3713321"/>
            <a:ext cx="7504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free(p)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32779" y="3994785"/>
            <a:ext cx="13739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6E1EC"/>
                </a:solidFill>
                <a:latin typeface="+mn-lt"/>
                <a:ea typeface="+mn-ea"/>
                <a:cs typeface="+mn-cs"/>
              </a:rPr>
              <a:t>对象 M = Released</a:t>
            </a:r>
          </a:p>
        </p:txBody>
      </p:sp>
      <p:sp>
        <p:nvSpPr>
          <p:cNvPr id="33" name="Line 33"/>
          <p:cNvSpPr/>
          <p:nvPr/>
        </p:nvSpPr>
        <p:spPr>
          <a:xfrm>
            <a:off x="5810250" y="4143375"/>
            <a:ext cx="9525" cy="295275"/>
          </a:xfrm>
          <a:custGeom>
            <a:avLst/>
            <a:gdLst/>
            <a:ahLst/>
            <a:cxnLst/>
            <a:rect l="l" t="t" r="r" b="b"/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/>
          <a:ln w="19050">
            <a:solidFill>
              <a:srgbClr val="4A6580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5581650" y="4438650"/>
            <a:ext cx="457200" cy="45720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57508" y="460438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31636" y="4475321"/>
            <a:ext cx="7504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*q = 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32779" y="4756785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6E1EC"/>
                </a:solidFill>
                <a:latin typeface="+mn-lt"/>
                <a:ea typeface="+mn-ea"/>
                <a:cs typeface="+mn-cs"/>
              </a:rPr>
              <a:t>释放后访问，触发诊断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429250" y="5429250"/>
            <a:ext cx="6153150" cy="457200"/>
          </a:xfrm>
          <a:prstGeom prst="roundRect">
            <a:avLst>
              <a:gd name="adj" fmla="val 20833"/>
            </a:avLst>
          </a:prstGeom>
          <a:solidFill>
            <a:srgbClr val="291C22"/>
          </a:solidFill>
          <a:ln w="9525">
            <a:solidFill>
              <a:srgbClr val="D9534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33466" y="5601652"/>
            <a:ext cx="52123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D1CF"/>
                </a:solidFill>
                <a:latin typeface="+mn-lt"/>
                <a:ea typeface="+mn-ea"/>
                <a:cs typeface="+mn-cs"/>
              </a:rPr>
              <a:t>Clang 报告 UAF；CodeQL 通过分配、释放、传播、访问的关系查询发现同类问题。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47" y="370999"/>
            <a:ext cx="8492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/ 其他条目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8170" y="633412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其他规范条目的检测概况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066800"/>
            <a:ext cx="109728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4838" y="6475095"/>
            <a:ext cx="20896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Rust Unsafe 规范静态检测可行性评审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7700" y="6475095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2742" y="1235392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从检测成熟度与实现难度看，可分为三类能力。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1809750"/>
            <a:ext cx="3238500" cy="31623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1809750"/>
            <a:ext cx="3238500" cy="76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580" y="20764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初始化与指针有效性</a:t>
            </a:r>
          </a:p>
        </p:txBody>
      </p:sp>
      <p:sp>
        <p:nvSpPr>
          <p:cNvPr id="11" name="Ellipse 11"/>
          <p:cNvSpPr/>
          <p:nvPr/>
        </p:nvSpPr>
        <p:spPr>
          <a:xfrm>
            <a:off x="838200" y="261937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0135" y="26027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未初始化读取：可借鉴路径分析</a:t>
            </a:r>
          </a:p>
        </p:txBody>
      </p:sp>
      <p:sp>
        <p:nvSpPr>
          <p:cNvPr id="13" name="Ellipse 13"/>
          <p:cNvSpPr/>
          <p:nvPr/>
        </p:nvSpPr>
        <p:spPr>
          <a:xfrm>
            <a:off x="838200" y="32385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0135" y="3221831"/>
            <a:ext cx="28454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FFI 返回指针判空：可检测已知为空的分支</a:t>
            </a:r>
          </a:p>
        </p:txBody>
      </p:sp>
      <p:sp>
        <p:nvSpPr>
          <p:cNvPr id="15" name="Ellipse 15"/>
          <p:cNvSpPr/>
          <p:nvPr/>
        </p:nvSpPr>
        <p:spPr>
          <a:xfrm>
            <a:off x="838200" y="38576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80135" y="3840956"/>
            <a:ext cx="33284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限制：外部函数行为未知、别名复杂、部分初始化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71950" y="1809750"/>
            <a:ext cx="3238500" cy="31623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71950" y="1809750"/>
            <a:ext cx="3238500" cy="76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392930" y="207645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生命周期与释放安全</a:t>
            </a:r>
          </a:p>
        </p:txBody>
      </p:sp>
      <p:sp>
        <p:nvSpPr>
          <p:cNvPr id="20" name="Ellipse 20"/>
          <p:cNvSpPr/>
          <p:nvPr/>
        </p:nvSpPr>
        <p:spPr>
          <a:xfrm>
            <a:off x="4400550" y="2619375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42485" y="2602706"/>
            <a:ext cx="31776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栈地址逃逸：直接返回局部地址，检测相对成熟</a:t>
            </a:r>
          </a:p>
        </p:txBody>
      </p:sp>
      <p:sp>
        <p:nvSpPr>
          <p:cNvPr id="22" name="Ellipse 22"/>
          <p:cNvSpPr/>
          <p:nvPr/>
        </p:nvSpPr>
        <p:spPr>
          <a:xfrm>
            <a:off x="4400550" y="323850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42485" y="3221831"/>
            <a:ext cx="22715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Double Free：可复用 UAF 的资源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42485" y="3421856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状态分析</a:t>
            </a:r>
          </a:p>
        </p:txBody>
      </p:sp>
      <p:sp>
        <p:nvSpPr>
          <p:cNvPr id="25" name="Ellipse 25"/>
          <p:cNvSpPr/>
          <p:nvPr/>
        </p:nvSpPr>
        <p:spPr>
          <a:xfrm>
            <a:off x="4400550" y="3857625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642485" y="3840956"/>
            <a:ext cx="27661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Memory Leak：必须区分真实泄漏与合法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2485" y="4040981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所有权转移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734300" y="1809750"/>
            <a:ext cx="3238500" cy="3162300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734300" y="18097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55280" y="207645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资源管理规范</a:t>
            </a:r>
          </a:p>
        </p:txBody>
      </p:sp>
      <p:sp>
        <p:nvSpPr>
          <p:cNvPr id="31" name="Ellipse 31"/>
          <p:cNvSpPr/>
          <p:nvPr/>
        </p:nvSpPr>
        <p:spPr>
          <a:xfrm>
            <a:off x="7962900" y="2619375"/>
            <a:ext cx="114300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204835" y="2602706"/>
            <a:ext cx="26946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RAII：可以检查资源管理类型与使用约定</a:t>
            </a:r>
          </a:p>
        </p:txBody>
      </p:sp>
      <p:sp>
        <p:nvSpPr>
          <p:cNvPr id="33" name="Ellipse 33"/>
          <p:cNvSpPr/>
          <p:nvPr/>
        </p:nvSpPr>
        <p:spPr>
          <a:xfrm>
            <a:off x="7962900" y="3238500"/>
            <a:ext cx="114300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204835" y="3221831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释放后置空：只能降低部分风险</a:t>
            </a:r>
          </a:p>
        </p:txBody>
      </p:sp>
      <p:sp>
        <p:nvSpPr>
          <p:cNvPr id="35" name="Ellipse 35"/>
          <p:cNvSpPr/>
          <p:nvPr/>
        </p:nvSpPr>
        <p:spPr>
          <a:xfrm>
            <a:off x="7962900" y="3857625"/>
            <a:ext cx="114300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204835" y="3840956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不宜作为核心安全判定依据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" y="53340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7E6"/>
          </a:solidFill>
          <a:ln w="9525">
            <a:solidFill>
              <a:schemeClr val="accent3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13435" y="5488781"/>
            <a:ext cx="6145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A76600"/>
                </a:solidFill>
                <a:latin typeface="+mn-lt"/>
                <a:ea typeface="+mn-ea"/>
                <a:cs typeface="+mn-cs"/>
              </a:rPr>
              <a:t>落地原则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8023" y="5472589"/>
            <a:ext cx="51995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优先实现证据充分、边界清晰的规则；不确定路径保留“未知”状态，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08023" y="5691188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避免用过度保守的规则把合法逃逸和真实缺陷混为一谈。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47" y="370999"/>
            <a:ext cx="8492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/ 工具调研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8170" y="633412"/>
            <a:ext cx="582910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RAPx 与 Crema：现有 Rust 静态分析基础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066800"/>
            <a:ext cx="109728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4838" y="6475095"/>
            <a:ext cx="20896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Rust Unsafe 规范静态检测可行性评审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7700" y="6475095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2742" y="1235392"/>
            <a:ext cx="53999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6C5D6"/>
                </a:solidFill>
                <a:latin typeface="+mn-lt"/>
                <a:ea typeface="+mn-ea"/>
                <a:cs typeface="+mn-cs"/>
              </a:rPr>
              <a:t>两个项目分别覆盖 Rust 原生分析与 Rust/C FFI 跨语言资源分析。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1809750"/>
            <a:ext cx="5095875" cy="3638550"/>
          </a:xfrm>
          <a:prstGeom prst="roundRect">
            <a:avLst>
              <a:gd name="adj" fmla="val 3665"/>
            </a:avLst>
          </a:prstGeom>
          <a:solidFill>
            <a:srgbClr val="101B2D"/>
          </a:solidFill>
          <a:ln w="9525">
            <a:solidFill>
              <a:srgbClr val="253A55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1809750"/>
            <a:ext cx="5095875" cy="76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64870" y="2043112"/>
            <a:ext cx="7522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RAPx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204" y="2442210"/>
            <a:ext cx="25423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Rust 程序静态分析与安全验证平台</a:t>
            </a:r>
          </a:p>
        </p:txBody>
      </p:sp>
      <p:sp>
        <p:nvSpPr>
          <p:cNvPr id="12" name="Ellipse 12"/>
          <p:cNvSpPr/>
          <p:nvPr/>
        </p:nvSpPr>
        <p:spPr>
          <a:xfrm>
            <a:off x="923925" y="30003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36904" y="2975610"/>
            <a:ext cx="1151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基于 rustc MIR</a:t>
            </a:r>
          </a:p>
        </p:txBody>
      </p:sp>
      <p:sp>
        <p:nvSpPr>
          <p:cNvPr id="14" name="Ellipse 14"/>
          <p:cNvSpPr/>
          <p:nvPr/>
        </p:nvSpPr>
        <p:spPr>
          <a:xfrm>
            <a:off x="923925" y="34004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6904" y="337566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支持别名、指向、路径、堆所有权分析</a:t>
            </a:r>
          </a:p>
        </p:txBody>
      </p:sp>
      <p:sp>
        <p:nvSpPr>
          <p:cNvPr id="16" name="Ellipse 16"/>
          <p:cNvSpPr/>
          <p:nvPr/>
        </p:nvSpPr>
        <p:spPr>
          <a:xfrm>
            <a:off x="923925" y="38004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36904" y="3775710"/>
            <a:ext cx="36060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已有 UAF、Double Free、Memory Leak 相关检测</a:t>
            </a:r>
          </a:p>
        </p:txBody>
      </p:sp>
      <p:sp>
        <p:nvSpPr>
          <p:cNvPr id="18" name="Ellipse 18"/>
          <p:cNvSpPr/>
          <p:nvPr/>
        </p:nvSpPr>
        <p:spPr>
          <a:xfrm>
            <a:off x="923925" y="420052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36904" y="4175760"/>
            <a:ext cx="24094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适合作为 Rust 检测器的研发基础</a:t>
            </a:r>
          </a:p>
        </p:txBody>
      </p:sp>
      <p:sp>
        <p:nvSpPr>
          <p:cNvPr id="20" name="Ellipse 20"/>
          <p:cNvSpPr/>
          <p:nvPr/>
        </p:nvSpPr>
        <p:spPr>
          <a:xfrm>
            <a:off x="923925" y="46005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36904" y="457581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主要成本：nightly 与 rustc 内部接口维护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86525" y="1809750"/>
            <a:ext cx="5095875" cy="3638550"/>
          </a:xfrm>
          <a:prstGeom prst="roundRect">
            <a:avLst>
              <a:gd name="adj" fmla="val 3665"/>
            </a:avLst>
          </a:prstGeom>
          <a:solidFill>
            <a:srgbClr val="101B2D"/>
          </a:solidFill>
          <a:ln w="9525">
            <a:solidFill>
              <a:srgbClr val="253A5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486525" y="1809750"/>
            <a:ext cx="5095875" cy="76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41795" y="2043112"/>
            <a:ext cx="97169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7129" y="2442210"/>
            <a:ext cx="2396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Rust/C FFI 跨语言内存错误分析</a:t>
            </a:r>
          </a:p>
        </p:txBody>
      </p:sp>
      <p:sp>
        <p:nvSpPr>
          <p:cNvPr id="26" name="Ellipse 26"/>
          <p:cNvSpPr/>
          <p:nvPr/>
        </p:nvSpPr>
        <p:spPr>
          <a:xfrm>
            <a:off x="6800850" y="3000375"/>
            <a:ext cx="95250" cy="95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13829" y="2975610"/>
            <a:ext cx="20828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结合 Rust MIR 与 C LLVM IR</a:t>
            </a:r>
          </a:p>
        </p:txBody>
      </p:sp>
      <p:sp>
        <p:nvSpPr>
          <p:cNvPr id="28" name="Ellipse 28"/>
          <p:cNvSpPr/>
          <p:nvPr/>
        </p:nvSpPr>
        <p:spPr>
          <a:xfrm>
            <a:off x="6800850" y="3400425"/>
            <a:ext cx="95250" cy="95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13829" y="3375660"/>
            <a:ext cx="2797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关注 UAF、Double Free、Never-Free</a:t>
            </a:r>
          </a:p>
        </p:txBody>
      </p:sp>
      <p:sp>
        <p:nvSpPr>
          <p:cNvPr id="30" name="Ellipse 30"/>
          <p:cNvSpPr/>
          <p:nvPr/>
        </p:nvSpPr>
        <p:spPr>
          <a:xfrm>
            <a:off x="6800850" y="3800475"/>
            <a:ext cx="95250" cy="95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013829" y="377571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研究跨语言分配、释放和所有权转移</a:t>
            </a:r>
          </a:p>
        </p:txBody>
      </p:sp>
      <p:sp>
        <p:nvSpPr>
          <p:cNvPr id="32" name="Ellipse 32"/>
          <p:cNvSpPr/>
          <p:nvPr/>
        </p:nvSpPr>
        <p:spPr>
          <a:xfrm>
            <a:off x="6800850" y="4200525"/>
            <a:ext cx="95250" cy="95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13829" y="4175760"/>
            <a:ext cx="1969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适合作为 FFI 专项能力参考</a:t>
            </a:r>
          </a:p>
        </p:txBody>
      </p:sp>
      <p:sp>
        <p:nvSpPr>
          <p:cNvPr id="34" name="Ellipse 34"/>
          <p:cNvSpPr/>
          <p:nvPr/>
        </p:nvSpPr>
        <p:spPr>
          <a:xfrm>
            <a:off x="6800850" y="4600575"/>
            <a:ext cx="95250" cy="95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013829" y="457581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EDF5"/>
                </a:solidFill>
                <a:latin typeface="+mn-lt"/>
                <a:ea typeface="+mn-ea"/>
                <a:cs typeface="+mn-cs"/>
              </a:rPr>
              <a:t>主要限制：工具仍早期，复杂场景覆盖有限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" y="573405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17283E"/>
          </a:solidFill>
          <a:ln w="9525">
            <a:solidFill>
              <a:schemeClr val="accent2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13054" y="5861685"/>
            <a:ext cx="53487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建议：以 RAPx 作为 Rust 原生检测基础，以 Crema 补充 FFI 场景研究。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ust_unsafe_static_review">
  <a:themeElements>
    <a:clrScheme name="rust_unsafe_static_review">
      <a:dk1>
        <a:srgbClr val="132238"/>
      </a:dk1>
      <a:lt1>
        <a:srgbClr val="F7F9FC"/>
      </a:lt1>
      <a:dk2>
        <a:srgbClr val="1F497D"/>
      </a:dk2>
      <a:lt2>
        <a:srgbClr val="F7F9FC"/>
      </a:lt2>
      <a:accent1>
        <a:srgbClr val="0B1220"/>
      </a:accent1>
      <a:accent2>
        <a:srgbClr val="25C2A0"/>
      </a:accent2>
      <a:accent3>
        <a:srgbClr val="F59E0B"/>
      </a:accent3>
      <a:accent4>
        <a:srgbClr val="0B1220"/>
      </a:accent4>
      <a:accent5>
        <a:srgbClr val="EEF3F7"/>
      </a:accent5>
      <a:accent6>
        <a:srgbClr val="5B6B7A"/>
      </a:accent6>
      <a:hlink>
        <a:srgbClr val="25C2A0"/>
      </a:hlink>
      <a:folHlink>
        <a:srgbClr val="F59E0B"/>
      </a:folHlink>
    </a:clrScheme>
    <a:fontScheme name="rust_unsafe_static_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st_unsafe_stati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2026-10-21T02:18:20Z</dcterms:created>
  <dcterms:modified xsi:type="dcterms:W3CDTF">2026-10-21T02:18:20Z</dcterms:modified>
  <cp:category/>
  <cp:contentStatus/>
</cp:coreProperties>
</file>