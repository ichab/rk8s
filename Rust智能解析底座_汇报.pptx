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7" r:id="rId5"/>
    <p:sldId id="268" r:id="rId6"/>
    <p:sldId id="273" r:id="rId7"/>
    <p:sldId id="269" r:id="rId8"/>
    <p:sldId id="274" r:id="rId9"/>
    <p:sldId id="261" r:id="rId10"/>
    <p:sldId id="262" r:id="rId11"/>
    <p:sldId id="276" r:id="rId12"/>
    <p:sldId id="278" r:id="rId13"/>
    <p:sldId id="279" r:id="rId14"/>
    <p:sldId id="264" r:id="rId15"/>
    <p:sldId id="277" r:id="rId16"/>
    <p:sldId id="265" r:id="rId17"/>
    <p:sldId id="272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2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40"/>
        <p:guide pos="28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这次汇报主要介绍我对 Rust 智能解析底座的理解，以及调研后形成的技术方案。核心想法是把工程结构、源码语义和编译信息关联成统一表示，再通过接口提供给下游 Agent。Cargo 提供工程上下文，rust-analyzer 提供定义、类型与引用等查询能力，rustc 提供编译诊断和进一步分析所需的表示。底座的价值不仅在于能画出关系图，还在于每项结果都可以回到源码，并说明分析依据和不确定性。下面依次介绍项目定位、现有工具边界和实现构想。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项目的核心目标是构建一个 Rust 工程统一表示层。输入完整 Rust 工程，包括 Cargo 配置、源码与编译信息；解析工程结构、API 与类型、依赖与调用关系、编译语义；将这些信息组织成统一的代码实体与关系；为 Unsafe Analysis、Fuzzing Agent 等下游任务提供共享基础。图中保留的是项目原始材料中的第二张架构图，用于说明该总体定位。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从表示形式上看，该项目更接近代码知识图谱，也就是 CKG。不是只解析源码语法，而是将 Workspace、Crate、Module、Function、Trait、Type 等代码实体，以及调用、依赖、实现等关系统一组织起来。</a:t>
            </a:r>
            <a:endParaRPr lang="zh-CN" dirty="0"/>
          </a:p>
          <a:p>
            <a:r>
              <a:rPr lang="zh-CN" altLang="en-US" dirty="0"/>
              <a:t>解析底座读取并结构化 </a:t>
            </a:r>
            <a:r>
              <a:rPr lang="en-US" altLang="zh-CN" dirty="0"/>
              <a:t>MIR，</a:t>
            </a:r>
            <a:r>
              <a:rPr lang="zh-CN" altLang="en-US" dirty="0"/>
              <a:t>按操作类型标记候选点，例如裸指针转换或解引用、调用 </a:t>
            </a:r>
            <a:r>
              <a:rPr lang="en-US" altLang="zh-CN" dirty="0"/>
              <a:t>from_raw_parts、transmute </a:t>
            </a:r>
            <a:r>
              <a:rPr lang="zh-CN" altLang="en-US" dirty="0"/>
              <a:t>等；同时提供调用关系、数据流和控制流上下文。</a:t>
            </a:r>
            <a:endParaRPr lang="zh-CN" altLang="en-US" dirty="0"/>
          </a:p>
          <a:p>
            <a:r>
              <a:rPr lang="en-US" altLang="zh-CN" dirty="0"/>
              <a:t>Unsafe </a:t>
            </a:r>
            <a:r>
              <a:rPr lang="zh-CN" altLang="en-US" dirty="0"/>
              <a:t>检查模块获取这些候选点，进一步检查长度、对齐、有效性等安全条件，判断并定位风险。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现有代码知识图谱通过提取文件、函数、类型、模块等实体，以及调用、导入、依赖、继承等关系，已经能够支持代码检索与导航、调用链和影响分析，并为大模型和 Agent 提供结构化上下文。中间保留本轮调研的四个代表：Graphify侧重语法与规则构图、聚类和关系探索；CodeGraph增强上下文解析与调用索引；GitNexus提供关系、社区和流程探索；Understand Anything结合结构提取与大模型做解释和导览。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下面单独说明能力边界。这些方案大多以 Tree-sitter 或 AST 等结构解析为基础，擅长结构、调用、依赖和检索。对于本项目需要的 Rust 类型系统和编译语义，仍需要更深入的分析。这里的“不足”不是说这些工具完全没有语义能力；它们可以通过规则、上下文或大模型补充部分信息，但其 Rust 类型推导、trait 求解和编译语义覆盖，需要逐工具、逐版本验证。这也引出了后面使用 RA 与 rustc 的方案。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zh-CN" dirty="0"/>
              <a:t>这一页实际运行了 Graphify 的 code-only AST 提取。输入是一个最小 Cargo 工程，包含 let mut a = [0u8; 32]、let b = [0u32; STATE_LEN] 和对 xor_si512_inplace 的调用。Graphify 实测输出 5 个节点、4 条边：包、文件、常量、两个函数，以及文件包含关系和 demo 调用 xor_si512_inplace。它没有输出指针转换、core::slice::from_raw_parts_mut 调用、实参到形参的绑定、MIR 基本块和操作、对齐条件或安全契约。因此本页不是说 Graphify 没有价值，而是用实测结果具体说明：要识别这个问题，还需要在 AST 结构图上补充 Rust 类型语义、危险 API 调用、MIR 过程、参数来源和规则证据。</a:t>
            </a:r>
            <a:br>
              <a:rPr lang="zh-CN" dirty="0"/>
            </a:br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对齐风险：</a:t>
            </a:r>
            <a:r>
              <a:rPr lang="en-US" altLang="zh-CN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a </a:t>
            </a:r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是 &amp;</a:t>
            </a:r>
            <a:r>
              <a:rPr lang="en-US" altLang="zh-CN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mut [u8]，</a:t>
            </a:r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只保证 1 字节对齐；</a:t>
            </a:r>
            <a:endParaRPr lang="zh-CN" altLang="en-US" b="1" dirty="0">
              <a:solidFill>
                <a:srgbClr val="D8823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转为 *</a:t>
            </a:r>
            <a:r>
              <a:rPr lang="en-US" altLang="zh-CN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mut u32 </a:t>
            </a:r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不会改变地址，</a:t>
            </a:r>
            <a:endParaRPr lang="zh-CN" altLang="en-US" b="1" dirty="0">
              <a:solidFill>
                <a:srgbClr val="D8823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但 </a:t>
            </a:r>
            <a:r>
              <a:rPr lang="en-US" altLang="zh-CN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from_raw_parts_mut </a:t>
            </a:r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要求地址满足 </a:t>
            </a:r>
            <a:r>
              <a:rPr lang="en-US" altLang="zh-CN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u32 </a:t>
            </a:r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的 4 字节对齐。</a:t>
            </a:r>
            <a:endParaRPr lang="zh-CN" altLang="en-US" b="1" dirty="0">
              <a:solidFill>
                <a:srgbClr val="D8823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长度越界：</a:t>
            </a:r>
            <a:r>
              <a:rPr lang="en-US" altLang="zh-CN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STATE_LEN = 16，</a:t>
            </a:r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因此 </a:t>
            </a:r>
            <a:r>
              <a:rPr lang="en-US" altLang="zh-CN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d1 </a:t>
            </a:r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声称包含 16 个 </a:t>
            </a:r>
            <a:r>
              <a:rPr lang="en-US" altLang="zh-CN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u32，</a:t>
            </a:r>
            <a:endParaRPr lang="en-US" altLang="zh-CN" b="1" dirty="0">
              <a:solidFill>
                <a:srgbClr val="D8823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覆盖 64 字节；示例中的 </a:t>
            </a:r>
            <a:r>
              <a:rPr lang="en-US" altLang="zh-CN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a </a:t>
            </a:r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只有 32 字节，</a:t>
            </a:r>
            <a:endParaRPr lang="zh-CN" altLang="en-US" b="1" dirty="0">
              <a:solidFill>
                <a:srgbClr val="D8823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lang="en-US" altLang="zh-CN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d1[8..15] </a:t>
            </a:r>
            <a:r>
              <a:rPr altLang="en-US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对应的读写会超出这 32 字节范围</a:t>
            </a:r>
            <a:endParaRPr lang="zh-CN" altLang="en-US" b="1" dirty="0">
              <a:solidFill>
                <a:srgbClr val="D8823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本项目不是单独构建某一种代码图，而是融合 CKG、SCG、CPG 三类图谱关注的信息。代码知识图谱关注项目由什么组成、相关代码在哪里；语义代码图谱关注代码实体之间是什么语义关系；代码属性图关注程序如何执行、数据如何传播。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右侧用三个信息视角说明统一表示。工程结构包括 Workspace、Crate、Module 和 Dependency；代码语义包括 Function、Trait、Type 和 Call；程序行为包括 CFG、Data Flow、BasicBlock 和 Operation。它们共同支撑 Rust 智能解析底座，为上层 Agent 提供不同粒度的代码上下文。这里列举的是实体、关系和分析结构的代表，并非把所有项目都定义为同一种节点，也不意味着先分别构建三套独立图再简单拼接；实际仍需统一 Schema、实体标识与源码映射。SCG 使用更准确的名称“语义代码图谱”，对应 Semantic Code Graph。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这一页不再只列举“源码语义”和“编译事实”两个抽象标签，而是分层说明两路提取结果。RA 负责工程、源码实体、源码语义和源码位置映射，回答代码是谁、在哪里、如何关联。rustc 侧重点放在 MIR 过程信息：函数体和局部变量、基本块与终结操作、Place／Operand／Rvalue 的读写与转换，以及 Call 的实参、返回目的和派生值关系，回答程序如何执行、值如何传递。两路数据最终映射到同一图谱中的 Function、CallSite、BasicBlock、Operation 和 Value 等对象，为 Unsafe 模块沿路径取证和 Fuzzing 模块构造入口提供共同基础。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这张图展示拟议的端到端架构。左侧采集工程结构和语义信息，中间将 workspace、crate、模块、函数和类型关联起来，右侧通过 MCP 暴露查询与分析工具，服务 Fuzzing 和 Unsafe 两类应用。我的理解是，最关键的工作位于信息源与图谱之间：同一个函数从 RA 和 rustc 提取出来后，要能正确对应，同时保留源码位置、配置、来源和解析状态。图中调用、数据流和所有权相关事实不是某一个接口一次性返回的，需要按分析目标继续提取和计算。该图是方案示意，后续实现应明确每项查询的范围、精度和未知状态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 RA 当作库，意味着我们的 Rust 程序可以直接复用它的组件，而不是通过编辑器手动跳转。project_model 负责理解 Cargo 工程与 crate 依赖，vfs 管理文件标识和源码输入，syntax 提供可遍历的语法结构，hir 提供定义、类型和实现等语义对象，ide 提供 AnalysisHost、Analysis 以及结构和导航查询。图中的箭头是职责上的组织示意，不是 RA 的全部内部依赖。我们可以根据问题选择接口层：批量提取语义实体可以使用 hir，从文件位置出发的结构与导航可以使用 ide。最终的图谱节点、关系命名、存储和增量更新，仍由自己的工具负责。库接口需要固定版本并封装适配层。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可行流程分为五步。第一步加载 Cargo 工程、文件和配置，形成分析数据库。第二步用 file_structure 获取文件中的初始符号、种类和源码范围。第三步根据这些范围定位 RA 的 AST，补齐字段、签名、调用和引用位置。第四步用语义接口查询表达式类型以及引用或调用对应的定义。最后统一实体标识，生成节点和边，写入索引。比如 storage.get，AST 负责找到这一处调用，RA 查询接收者类型和目标定义，构图层再将 CallSite 连接到目标 Function。若解析失败，就保留未解析状态。对于泛型和动态分派，需要区分定义上下文、实例上下文和候选目标。关联项、宏生成项及局部定义也需要按提取范围补充遍历。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这页明确 rustc MIR 接入的目的：补充 RA 源码语义无法提供的程序过程事实，包括基本块、语句、终结操作、Place、调用实参、返回目的、值来源和控制流。接入路线是 Cargo workspace wrapper 保留真实构建参数，自定义 driver 在 TyCtxt 上读取支持阶段的 MIR，转换成不依赖 rustc 生命周期的自有过程记录，再与 RA 的 Function、Parameter、CallSite 和 SourceSpan 对齐。rustc_private 和 driver 接口严格绑定经过验证的工具链版本，通过适配层和 schema_version 隔离变化。部分早期 MIR 使用 Steal，提取器只读导出，不主动 steal，必须在数据被后续查询消费前读取；首期先验证 optimized_mir，不足时再按版本接入早期 query。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这页先说明 Graphify 类工具的增量更新边界：通常利用文件 hash 或 manifest 判断变化，对变更文件重新做 AST 提取，再替换或合并节点和边，主要覆盖文件、符号和普通调用关系。统一 Rust 图谱的增量更新范围更大：变更检测要考虑源码、Cargo、feature、生成文件和工具链；RA 分支刷新源码语义，rustc 分支核验缓存并重提取受影响 MIR；统一更新器处理节点、关系和属性的增删改，并沿依赖索引使查询缓存、Unsafe 结论和 Fuzz 目标失效或重算。修改案例中的类型或指针转换时，不能只更新一个函数节点，相关 Call、Value、MIR 记录和专项结果都需要保持同一快照的一致性。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Schema 建议按四层组织。工程层放 workspace、crate、模块和文件，表达包含与依赖。定义层放函数、结构体、枚举、trait 和 impl，表达实现关系与类型使用。使用层保留调用点，引用也可以先作为带位置的关系记录，避免只存一条函数到函数的调用边而丢掉调用现场。分析层按需加入基本块、操作和诊断，以及控制流和数据流关系。前三层构成第一版的源码语义基础，第四层逐步扩展。这里的层级是本方案的数据组织，并不是 RA 的内部结构。跨层连线也不全是包含：调用点会引用定义，分析操作会映射源码，诊断会关联实体。所有层共享源码位置、构建配置、分析来源、快照和解析状态，方便解释结论及后续更新。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左侧沿用 xor_si512_inplace，右侧是简化的预期记录，不是实际工具输出。X 是指针转换表达式，Uses 表示其中对参数 a 的源码引用，ArgumentAt 表示它处于第零个实参位置。C 与 T 区分调用点和目标定义，O 是拟关联的 MIR 操作，B 和 L 只是体记录及位置的示意别名。源码与 MIR 无法确认唯一对应时保留歧义，不强行一一映射。这里只展示局部映射，跨函数路径和运行时来源留待 PoC 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MCP 的职责是把底座能力封装成 Agent 可以调用的工具，不在协议层完成语义分析。基础查询先提供实体详情、类型和调用关系。unsafe 方向计划提供危险操作定位和数据流追踪，帮助组织路径及证据；fuzzing 方向计划提供候选入口和输入构造信息，帮助生成有效测试。这些专项名称是拟议接口，不代表我们已经实现了完整算法。每次返回结果，都应包含事实、源码位置和解析状态。覆盖率、崩溃和人工复核结果再关联回原始分析快照，避免混用版本。静态图上的路径不证明真实可执行，得到安全证据也不等于完成安全证明，Agent 需要结合后续验证作判断。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最后将方案收束为三组需要实现的能力。第一组是图谱构建与更新：加载 Cargo 工程，以 RA 提取结构与语义建立基础图谱，按需补充 rustc 信息，保存实体、关系及源码位置。需要专门实现增量更新，在源码或构建配置变化后判断受影响范围，重新分析并替换相关事实，同时删除失效节点和边。RA 自身的增量计算并不等于我们的持久化图谱会自动同步；配置或依赖变化时，受影响范围可能扩大，必要时回退到完整重建。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第二组是查询与分析：查询工程结构、API、类型、Trait 实现和调用关系，进一步支持调用路径与修改影响分析，为 Unsafe 和 Fuzzing 提供代码上下文与分析依据。专项数据流和安全分析能力按阶段实现，结果应保留源码位置、分析配置与解析状态。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第三组是使用入口和 Agent 接入。CLI 提供初始化、构建、更新与查询命令；MCP Server 将查询分析封装为 Agent 可调用的工具；Skill 提供何时调用工具、怎样组合查询和使用结果的指引。Skill 本身不执行语义分析，三者复用底层程序能力。整体形成构建与增量更新、查询与分析、开发者及 Agent 使用的完整路径。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当前实现范围明确排除 Web 界面、桌面图形界面和独立 HTTP API。对外提供 CLI、MCP Server 与配套 Skill。这里的独立 HTTP API 是指额外设计的应用接口，不限制 MCP 协议将来采用的传输方式。Skill 负责使用指导，实际分析由底层程序执行。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ust_semantic_founda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ver-title"/>
          <p:cNvGrpSpPr/>
          <p:nvPr/>
        </p:nvGrpSpPr>
        <p:grpSpPr>
          <a:xfrm>
            <a:off x="590550" y="1767840"/>
            <a:ext cx="6017768" cy="1485265"/>
            <a:chOff x="590550" y="1767840"/>
            <a:chExt cx="6017768" cy="1485265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1767840"/>
              <a:ext cx="563537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Rust 智能解析底座</a:t>
              </a:r>
              <a:endParaRPr lang="zh-CN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7408" y="2884170"/>
              <a:ext cx="601091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 </a:t>
              </a:r>
              <a:r>
                <a:rPr lang="en-US" alt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 </a:t>
              </a:r>
              <a:r>
                <a:rPr lang="zh-CN" altLang="en-US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 </a:t>
              </a:r>
              <a:r>
                <a:rPr lang="en-US" alt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Rust </a:t>
              </a:r>
              <a:r>
                <a:rPr lang="zh-CN" altLang="en-US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工程语义表示与查询底座</a:t>
              </a:r>
              <a:endParaRPr lang="zh-CN" altLang="en-US" sz="24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76300" y="4566920"/>
            <a:ext cx="471297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2100" dirty="0">
                <a:solidFill>
                  <a:schemeClr val="accent6"/>
                </a:solidFill>
                <a:sym typeface="+mn-ea"/>
              </a:rPr>
              <a:t>总体理解　 /　 调研洞察　 /　 方案构想</a:t>
            </a:r>
            <a:endParaRPr lang="zh-CN" sz="210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882630" y="6290310"/>
            <a:ext cx="55308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01 / 11</a:t>
            </a:r>
            <a:endParaRPr lang="zh-CN" sz="120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18160" y="428625"/>
            <a:ext cx="3261360" cy="586740"/>
            <a:chOff x="518160" y="428625"/>
            <a:chExt cx="326136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428625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对项目的总体理解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073130" y="6376035"/>
            <a:ext cx="55308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 / 11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3410" y="953135"/>
            <a:ext cx="7040245" cy="3648710"/>
          </a:xfrm>
          <a:prstGeom prst="rect">
            <a:avLst/>
          </a:prstGeom>
        </p:spPr>
      </p:pic>
      <p:grpSp>
        <p:nvGrpSpPr>
          <p:cNvPr id="18" name="original-understanding"/>
          <p:cNvGrpSpPr/>
          <p:nvPr/>
        </p:nvGrpSpPr>
        <p:grpSpPr>
          <a:xfrm>
            <a:off x="560451" y="1293019"/>
            <a:ext cx="3828173" cy="4789932"/>
            <a:chOff x="560451" y="1293019"/>
            <a:chExt cx="3828173" cy="4789932"/>
          </a:xfrm>
        </p:grpSpPr>
        <p:sp>
          <p:nvSpPr>
            <p:cNvPr id="11" name="TextBox 6"/>
            <p:cNvSpPr txBox="1"/>
            <p:nvPr/>
          </p:nvSpPr>
          <p:spPr>
            <a:xfrm>
              <a:off x="561975" y="1293019"/>
              <a:ext cx="30560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项目的核心目标是构建一个</a:t>
              </a:r>
              <a:endParaRPr lang="zh-CN" sz="188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7"/>
            <p:cNvSpPr txBox="1"/>
            <p:nvPr/>
          </p:nvSpPr>
          <p:spPr>
            <a:xfrm>
              <a:off x="560451" y="1651159"/>
              <a:ext cx="282046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08C9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 工程统一表示层</a:t>
              </a:r>
              <a:endParaRPr lang="zh-CN" sz="2180" b="1" dirty="0">
                <a:solidFill>
                  <a:srgbClr val="008C9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8"/>
            <p:cNvSpPr txBox="1"/>
            <p:nvPr/>
          </p:nvSpPr>
          <p:spPr>
            <a:xfrm>
              <a:off x="563118" y="2279332"/>
              <a:ext cx="945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8C9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endParaRPr lang="zh-CN" sz="1650" b="1" dirty="0">
                <a:solidFill>
                  <a:srgbClr val="008C9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9"/>
            <p:cNvSpPr txBox="1"/>
            <p:nvPr/>
          </p:nvSpPr>
          <p:spPr>
            <a:xfrm>
              <a:off x="782574" y="2287429"/>
              <a:ext cx="3606050" cy="593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输入完整 Rust 工程，包括 Cargo 配置、</a:t>
              </a:r>
              <a:br>
                <a:rPr lang="zh-CN" sz="15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源码与编译信息；</a:t>
              </a:r>
              <a:endParaRPr lang="zh-CN" sz="1580" dirty="0">
                <a:solidFill>
                  <a:srgbClr val="243B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10"/>
            <p:cNvSpPr txBox="1"/>
            <p:nvPr/>
          </p:nvSpPr>
          <p:spPr>
            <a:xfrm>
              <a:off x="563118" y="3050858"/>
              <a:ext cx="945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8C9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endParaRPr lang="zh-CN" sz="1650" b="1" dirty="0">
                <a:solidFill>
                  <a:srgbClr val="008C9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11"/>
            <p:cNvSpPr txBox="1"/>
            <p:nvPr/>
          </p:nvSpPr>
          <p:spPr>
            <a:xfrm>
              <a:off x="782574" y="3058954"/>
              <a:ext cx="3516556" cy="593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解析工程结构、API / 类型、依赖与调用</a:t>
              </a:r>
              <a:br>
                <a:rPr lang="zh-CN" sz="15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关系、编译语义；</a:t>
              </a:r>
              <a:endParaRPr lang="zh-CN" sz="1580" dirty="0">
                <a:solidFill>
                  <a:srgbClr val="243B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12"/>
            <p:cNvSpPr txBox="1"/>
            <p:nvPr/>
          </p:nvSpPr>
          <p:spPr>
            <a:xfrm>
              <a:off x="563118" y="3822382"/>
              <a:ext cx="945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8C9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endParaRPr lang="zh-CN" sz="1650" b="1" dirty="0">
                <a:solidFill>
                  <a:srgbClr val="008C9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13"/>
            <p:cNvSpPr txBox="1"/>
            <p:nvPr/>
          </p:nvSpPr>
          <p:spPr>
            <a:xfrm>
              <a:off x="782574" y="3830479"/>
              <a:ext cx="3226562" cy="593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将这些信息组织成统一的代码实体与</a:t>
              </a:r>
              <a:br>
                <a:rPr lang="zh-CN" sz="15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关系；</a:t>
              </a:r>
              <a:endParaRPr lang="zh-CN" sz="1580" dirty="0">
                <a:solidFill>
                  <a:srgbClr val="243B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14"/>
            <p:cNvSpPr txBox="1"/>
            <p:nvPr/>
          </p:nvSpPr>
          <p:spPr>
            <a:xfrm>
              <a:off x="563118" y="4593908"/>
              <a:ext cx="945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8C9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endParaRPr lang="zh-CN" sz="1650" b="1" dirty="0">
                <a:solidFill>
                  <a:srgbClr val="008C9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15"/>
            <p:cNvSpPr txBox="1"/>
            <p:nvPr/>
          </p:nvSpPr>
          <p:spPr>
            <a:xfrm>
              <a:off x="782574" y="4602004"/>
              <a:ext cx="2955290" cy="576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 Unsafe 检查、模糊测试这两个</a:t>
              </a:r>
              <a:br>
                <a:rPr lang="zh-CN" sz="15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下游任务提供基础。</a:t>
              </a:r>
              <a:endParaRPr lang="zh-CN" sz="1580" dirty="0">
                <a:solidFill>
                  <a:srgbClr val="243B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16"/>
            <p:cNvSpPr txBox="1"/>
            <p:nvPr/>
          </p:nvSpPr>
          <p:spPr>
            <a:xfrm>
              <a:off x="562737" y="5385911"/>
              <a:ext cx="325917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从表示形式上看，该项目更接近</a:t>
              </a:r>
              <a:endParaRPr lang="zh-CN" sz="1720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17"/>
            <p:cNvSpPr txBox="1"/>
            <p:nvPr/>
          </p:nvSpPr>
          <p:spPr>
            <a:xfrm>
              <a:off x="561213" y="5686901"/>
              <a:ext cx="283452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8C9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代码知识图谱（CKG）</a:t>
              </a:r>
              <a:endParaRPr lang="zh-CN" sz="2020" b="1" dirty="0">
                <a:solidFill>
                  <a:srgbClr val="008C9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8" name="fuzz-interface-detail"/>
          <p:cNvGrpSpPr/>
          <p:nvPr/>
        </p:nvGrpSpPr>
        <p:grpSpPr>
          <a:xfrm>
            <a:off x="4926965" y="4742815"/>
            <a:ext cx="2924175" cy="1332389"/>
            <a:chOff x="5172075" y="4943475"/>
            <a:chExt cx="2924175" cy="1332389"/>
          </a:xfrm>
        </p:grpSpPr>
        <p:sp>
          <p:nvSpPr>
            <p:cNvPr id="44" name="Rectangle 44"/>
            <p:cNvSpPr/>
            <p:nvPr/>
          </p:nvSpPr>
          <p:spPr>
            <a:xfrm>
              <a:off x="5172075" y="4943475"/>
              <a:ext cx="2924175" cy="1266825"/>
            </a:xfrm>
            <a:prstGeom prst="roundRect">
              <a:avLst>
                <a:gd name="adj" fmla="val 7519"/>
              </a:avLst>
            </a:prstGeom>
            <a:solidFill>
              <a:srgbClr val="EAF6F5"/>
            </a:solidFill>
            <a:ln w="15240">
              <a:solidFill>
                <a:srgbClr val="EAF6F5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316474" y="5030629"/>
              <a:ext cx="802640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80" b="1" dirty="0">
                  <a:solidFill>
                    <a:srgbClr val="008C9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模糊测试</a:t>
              </a:r>
              <a:endParaRPr lang="zh-CN" altLang="en-US" sz="1580" b="1" dirty="0">
                <a:solidFill>
                  <a:srgbClr val="008C9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17617" y="5321618"/>
              <a:ext cx="27051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底座提供：参数类型，</a:t>
              </a:r>
              <a:endParaRPr lang="zh-CN" sz="1420" dirty="0">
                <a:solidFill>
                  <a:srgbClr val="243B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调用上下文和输入约束等相关接口</a:t>
              </a:r>
              <a:endParaRPr lang="zh-CN" sz="1420" dirty="0">
                <a:solidFill>
                  <a:srgbClr val="243B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317998" y="5882164"/>
              <a:ext cx="2763520" cy="393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模糊测试模块根据这些信息构造输入、</a:t>
              </a:r>
              <a:endParaRPr lang="zh-CN" altLang="en-US" sz="128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altLang="en-US" sz="128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运行测试</a:t>
              </a:r>
              <a:endParaRPr lang="zh-CN" altLang="en-US" sz="128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unsafe-priority-detail"/>
          <p:cNvGrpSpPr/>
          <p:nvPr/>
        </p:nvGrpSpPr>
        <p:grpSpPr>
          <a:xfrm>
            <a:off x="8203565" y="4742815"/>
            <a:ext cx="4279392" cy="1374457"/>
            <a:chOff x="8448675" y="4943475"/>
            <a:chExt cx="4279392" cy="1374457"/>
          </a:xfrm>
        </p:grpSpPr>
        <p:sp>
          <p:nvSpPr>
            <p:cNvPr id="49" name="Rectangle 49"/>
            <p:cNvSpPr/>
            <p:nvPr/>
          </p:nvSpPr>
          <p:spPr>
            <a:xfrm>
              <a:off x="8448675" y="4943475"/>
              <a:ext cx="3133725" cy="1266825"/>
            </a:xfrm>
            <a:prstGeom prst="roundRect">
              <a:avLst>
                <a:gd name="adj" fmla="val 7519"/>
              </a:avLst>
            </a:prstGeom>
            <a:solidFill>
              <a:srgbClr val="FFF3E8"/>
            </a:solidFill>
            <a:ln w="15240">
              <a:solidFill>
                <a:srgbClr val="FFF3E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593074" y="5030629"/>
              <a:ext cx="1126490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580" b="1" dirty="0">
                  <a:solidFill>
                    <a:srgbClr val="D8823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Unsafe </a:t>
              </a:r>
              <a:r>
                <a:rPr lang="zh-CN" altLang="en-US" sz="1580" b="1" dirty="0">
                  <a:solidFill>
                    <a:srgbClr val="D8823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检查</a:t>
              </a:r>
              <a:endParaRPr lang="zh-CN" altLang="en-US" sz="1580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93836" y="5342096"/>
              <a:ext cx="3326765" cy="538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altLang="en-US" sz="142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底座提供：</a:t>
              </a:r>
              <a:r>
                <a:rPr lang="en-US" altLang="zh-CN" sz="142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Unsafe </a:t>
              </a:r>
              <a:r>
                <a:rPr lang="zh-CN" altLang="en-US" sz="142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代码位置、调用关系、</a:t>
              </a:r>
              <a:endParaRPr lang="zh-CN" altLang="en-US" sz="1420" dirty="0">
                <a:solidFill>
                  <a:srgbClr val="243B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100"/>
                </a:lnSpc>
              </a:pPr>
              <a:r>
                <a:rPr lang="en-US" altLang="zh-CN" sz="142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MIR </a:t>
              </a:r>
              <a:r>
                <a:rPr lang="zh-CN" altLang="en-US" sz="142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级过程信息</a:t>
              </a:r>
              <a:endParaRPr lang="zh-CN" sz="1420" dirty="0">
                <a:solidFill>
                  <a:srgbClr val="243B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94217" y="5902642"/>
              <a:ext cx="413385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底座结构化</a:t>
              </a:r>
              <a:r>
                <a:rPr lang="en-US" alt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MIR</a:t>
              </a:r>
              <a:r>
                <a:rPr altLang="en-US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，标记候选点</a:t>
              </a:r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（或者封装成查询接口）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zh-CN" sz="13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检查模块获取并检查</a:t>
              </a:r>
              <a:endParaRPr lang="zh-CN" sz="13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18160" y="428625"/>
            <a:ext cx="5280660" cy="586740"/>
            <a:chOff x="518160" y="428625"/>
            <a:chExt cx="528066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428625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现有代码知识图谱的能力边界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" name="summary"/>
          <p:cNvGrpSpPr/>
          <p:nvPr/>
        </p:nvGrpSpPr>
        <p:grpSpPr>
          <a:xfrm>
            <a:off x="541782" y="1173480"/>
            <a:ext cx="8555736" cy="782193"/>
            <a:chOff x="541782" y="1173480"/>
            <a:chExt cx="8555736" cy="782193"/>
          </a:xfrm>
        </p:grpSpPr>
        <p:sp>
          <p:nvSpPr>
            <p:cNvPr id="4" name="TextBox 4"/>
            <p:cNvSpPr txBox="1"/>
            <p:nvPr/>
          </p:nvSpPr>
          <p:spPr>
            <a:xfrm>
              <a:off x="541782" y="1173480"/>
              <a:ext cx="8555736" cy="7821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现有工具通过提取代码实体与关系，支持检索导航、调用链与影响分析，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并为 LLM / Agent 提供结构化代码上下文。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" name="graphify"/>
          <p:cNvGrpSpPr/>
          <p:nvPr/>
        </p:nvGrpSpPr>
        <p:grpSpPr>
          <a:xfrm>
            <a:off x="571500" y="2095500"/>
            <a:ext cx="5238750" cy="876300"/>
            <a:chOff x="571500" y="2095500"/>
            <a:chExt cx="5238750" cy="876300"/>
          </a:xfrm>
        </p:grpSpPr>
        <p:sp>
          <p:nvSpPr>
            <p:cNvPr id="6" name="Rectangle 6"/>
            <p:cNvSpPr/>
            <p:nvPr/>
          </p:nvSpPr>
          <p:spPr>
            <a:xfrm>
              <a:off x="571500" y="2095500"/>
              <a:ext cx="5238750" cy="876300"/>
            </a:xfrm>
            <a:prstGeom prst="roundRect">
              <a:avLst>
                <a:gd name="adj" fmla="val 108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9620" y="2214562"/>
              <a:ext cx="135206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Graphify</a:t>
              </a:r>
              <a:endParaRPr lang="en-US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2668" y="2631758"/>
              <a:ext cx="33819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语法与规则构图 · 聚类与关系探索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codegraph"/>
          <p:cNvGrpSpPr/>
          <p:nvPr/>
        </p:nvGrpSpPr>
        <p:grpSpPr>
          <a:xfrm>
            <a:off x="6286500" y="2095500"/>
            <a:ext cx="5238750" cy="876300"/>
            <a:chOff x="6286500" y="2095500"/>
            <a:chExt cx="5238750" cy="876300"/>
          </a:xfrm>
        </p:grpSpPr>
        <p:sp>
          <p:nvSpPr>
            <p:cNvPr id="10" name="Rectangle 10"/>
            <p:cNvSpPr/>
            <p:nvPr/>
          </p:nvSpPr>
          <p:spPr>
            <a:xfrm>
              <a:off x="6286500" y="2095500"/>
              <a:ext cx="5238750" cy="876300"/>
            </a:xfrm>
            <a:prstGeom prst="roundRect">
              <a:avLst>
                <a:gd name="adj" fmla="val 108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84620" y="2214562"/>
              <a:ext cx="16169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CodeGraph</a:t>
              </a:r>
              <a:endParaRPr lang="en-US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87668" y="2631758"/>
              <a:ext cx="33819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上下文解析 · 调用索引与影响分析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itnexus"/>
          <p:cNvGrpSpPr/>
          <p:nvPr/>
        </p:nvGrpSpPr>
        <p:grpSpPr>
          <a:xfrm>
            <a:off x="571500" y="3219450"/>
            <a:ext cx="5238750" cy="876300"/>
            <a:chOff x="571500" y="3219450"/>
            <a:chExt cx="5238750" cy="876300"/>
          </a:xfrm>
        </p:grpSpPr>
        <p:sp>
          <p:nvSpPr>
            <p:cNvPr id="14" name="Rectangle 14"/>
            <p:cNvSpPr/>
            <p:nvPr/>
          </p:nvSpPr>
          <p:spPr>
            <a:xfrm>
              <a:off x="571500" y="3219450"/>
              <a:ext cx="5238750" cy="876300"/>
            </a:xfrm>
            <a:prstGeom prst="roundRect">
              <a:avLst>
                <a:gd name="adj" fmla="val 108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9620" y="3338512"/>
              <a:ext cx="136140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GitNexus</a:t>
              </a:r>
              <a:endParaRPr lang="en-US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3755708"/>
              <a:ext cx="27155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关系索引 · 社区与流程探索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understand-anything"/>
          <p:cNvGrpSpPr/>
          <p:nvPr/>
        </p:nvGrpSpPr>
        <p:grpSpPr>
          <a:xfrm>
            <a:off x="6286500" y="3219450"/>
            <a:ext cx="5238750" cy="876300"/>
            <a:chOff x="6286500" y="3219450"/>
            <a:chExt cx="5238750" cy="876300"/>
          </a:xfrm>
        </p:grpSpPr>
        <p:sp>
          <p:nvSpPr>
            <p:cNvPr id="18" name="Rectangle 18"/>
            <p:cNvSpPr/>
            <p:nvPr/>
          </p:nvSpPr>
          <p:spPr>
            <a:xfrm>
              <a:off x="6286500" y="3219450"/>
              <a:ext cx="5238750" cy="876300"/>
            </a:xfrm>
            <a:prstGeom prst="roundRect">
              <a:avLst>
                <a:gd name="adj" fmla="val 108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84620" y="3338512"/>
              <a:ext cx="320725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Understand Anything</a:t>
              </a:r>
              <a:endParaRPr lang="en-US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87668" y="3755708"/>
              <a:ext cx="29898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结构提取 + LLM · 解释与导览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capability-boundary"/>
          <p:cNvGrpSpPr/>
          <p:nvPr/>
        </p:nvGrpSpPr>
        <p:grpSpPr>
          <a:xfrm>
            <a:off x="571500" y="4360545"/>
            <a:ext cx="10953750" cy="2174875"/>
            <a:chOff x="571500" y="4467225"/>
            <a:chExt cx="10953750" cy="2174875"/>
          </a:xfrm>
        </p:grpSpPr>
        <p:sp>
          <p:nvSpPr>
            <p:cNvPr id="22" name="Rectangle 22"/>
            <p:cNvSpPr/>
            <p:nvPr/>
          </p:nvSpPr>
          <p:spPr>
            <a:xfrm>
              <a:off x="571500" y="4467225"/>
              <a:ext cx="10953750" cy="2174875"/>
            </a:xfrm>
            <a:prstGeom prst="roundRect">
              <a:avLst>
                <a:gd name="adj" fmla="val 727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8670" y="45958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能力边界</a:t>
              </a:r>
              <a:endParaRPr lang="zh-CN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1718" y="5041582"/>
              <a:ext cx="5427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现有方案大多以 Tree-sitter / AST 等结构解析为基础</a:t>
              </a:r>
              <a:endParaRPr lang="zh-CN" sz="16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93257" y="45910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72CDD1"/>
                  </a:solidFill>
                  <a:latin typeface="+mn-lt"/>
                  <a:ea typeface="+mn-ea"/>
                  <a:cs typeface="+mn-cs"/>
                </a:rPr>
                <a:t>擅长</a:t>
              </a: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　结构、调用、依赖、检索</a:t>
              </a:r>
              <a:endParaRPr lang="zh-CN" sz="21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93257" y="5001895"/>
              <a:ext cx="41305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2B374"/>
                  </a:solidFill>
                  <a:latin typeface="+mn-lt"/>
                  <a:ea typeface="+mn-ea"/>
                  <a:cs typeface="+mn-cs"/>
                </a:rPr>
                <a:t>不足</a:t>
              </a: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　Rust 类型系统与编译语义</a:t>
              </a:r>
              <a:endParaRPr lang="zh-CN" sz="21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073130" y="6366510"/>
            <a:ext cx="55308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 / 11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TextBox 24"/>
          <p:cNvSpPr txBox="1"/>
          <p:nvPr>
            <p:custDataLst>
              <p:tags r:id="rId1"/>
            </p:custDataLst>
          </p:nvPr>
        </p:nvSpPr>
        <p:spPr>
          <a:xfrm>
            <a:off x="792480" y="5370195"/>
            <a:ext cx="187325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8C9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 结构有，语义不完整</a:t>
            </a:r>
            <a:endParaRPr lang="zh-CN" sz="1500" b="1" dirty="0">
              <a:solidFill>
                <a:srgbClr val="008C9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25"/>
          <p:cNvSpPr txBox="1"/>
          <p:nvPr>
            <p:custDataLst>
              <p:tags r:id="rId2"/>
            </p:custDataLst>
          </p:nvPr>
        </p:nvSpPr>
        <p:spPr>
          <a:xfrm>
            <a:off x="3545586" y="5359241"/>
            <a:ext cx="65777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调用点可能只连到名称，缺少接收者类型、trait / impl、泛型实参和实际目标。</a:t>
            </a:r>
            <a:endParaRPr lang="zh-CN" sz="142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26"/>
          <p:cNvSpPr txBox="1"/>
          <p:nvPr>
            <p:custDataLst>
              <p:tags r:id="rId3"/>
            </p:custDataLst>
          </p:nvPr>
        </p:nvSpPr>
        <p:spPr>
          <a:xfrm>
            <a:off x="792480" y="5707380"/>
            <a:ext cx="187325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8C9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 调用有，过程不完整</a:t>
            </a:r>
            <a:endParaRPr lang="zh-CN" sz="1500" b="1" dirty="0">
              <a:solidFill>
                <a:srgbClr val="008C9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27"/>
          <p:cNvSpPr txBox="1"/>
          <p:nvPr>
            <p:custDataLst>
              <p:tags r:id="rId4"/>
            </p:custDataLst>
          </p:nvPr>
        </p:nvSpPr>
        <p:spPr>
          <a:xfrm>
            <a:off x="3560191" y="5663406"/>
            <a:ext cx="613161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缺少实参—形参绑定、指针／对象来源、基本块、操作顺序和分支条件。</a:t>
            </a:r>
            <a:endParaRPr lang="zh-CN" sz="142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28"/>
          <p:cNvSpPr txBox="1"/>
          <p:nvPr>
            <p:custDataLst>
              <p:tags r:id="rId5"/>
            </p:custDataLst>
          </p:nvPr>
        </p:nvSpPr>
        <p:spPr>
          <a:xfrm>
            <a:off x="792480" y="5998210"/>
            <a:ext cx="187325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8C9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 路径有，证据不完整</a:t>
            </a:r>
            <a:endParaRPr lang="zh-CN" sz="1500" b="1" dirty="0">
              <a:solidFill>
                <a:srgbClr val="008C9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29"/>
          <p:cNvSpPr txBox="1"/>
          <p:nvPr>
            <p:custDataLst>
              <p:tags r:id="rId6"/>
            </p:custDataLst>
          </p:nvPr>
        </p:nvSpPr>
        <p:spPr>
          <a:xfrm>
            <a:off x="3545586" y="5967571"/>
            <a:ext cx="689625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无法判断路径是否具备安全条件，也无法把分析结果追溯到同一源码与构建配置。</a:t>
            </a:r>
            <a:endParaRPr lang="zh-CN" sz="142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99110" y="428625"/>
            <a:ext cx="4577969" cy="777399"/>
            <a:chOff x="499110" y="428625"/>
            <a:chExt cx="4577969" cy="777399"/>
          </a:xfrm>
        </p:grpSpPr>
        <p:sp>
          <p:nvSpPr>
            <p:cNvPr id="2" name="TextBox 2"/>
            <p:cNvSpPr txBox="1"/>
            <p:nvPr/>
          </p:nvSpPr>
          <p:spPr>
            <a:xfrm>
              <a:off x="499110" y="428625"/>
              <a:ext cx="340931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</a:t>
              </a:r>
              <a:r>
                <a:rPr lang="en-US" altLang="zh-CN" sz="30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</a:t>
              </a:r>
              <a:r>
                <a:rPr lang="zh-CN" sz="30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raphify解析为例</a:t>
              </a:r>
              <a:endParaRPr lang="en-US" altLang="zh-CN" sz="30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924" y="963454"/>
              <a:ext cx="4542155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CVE-2021-45709 真实漏洞函数 xor_si512_inplace </a:t>
              </a:r>
              <a:endParaRPr lang="zh-CN" sz="158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614404" y="6328410"/>
            <a:ext cx="5062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 / 17</a:t>
            </a:r>
            <a:endParaRPr lang="zh-CN" sz="1200" dirty="0">
              <a:solidFill>
                <a:srgbClr val="60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278890"/>
            <a:ext cx="4341495" cy="4419600"/>
          </a:xfrm>
          <a:prstGeom prst="roundRect">
            <a:avLst>
              <a:gd name="adj" fmla="val 2155"/>
            </a:avLst>
          </a:prstGeom>
          <a:solidFill>
            <a:srgbClr val="F2F6F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89940" y="1638935"/>
            <a:ext cx="255651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20" b="1" dirty="0">
                <a:solidFill>
                  <a:srgbClr val="008C9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Input · Rust Source</a:t>
            </a:r>
            <a:endParaRPr lang="en-US" sz="2020" b="1" dirty="0">
              <a:solidFill>
                <a:srgbClr val="008C9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35965" y="4828540"/>
            <a:ext cx="4819650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350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对齐风险：</a:t>
            </a:r>
            <a:r>
              <a:rPr lang="en-US" altLang="zh-CN" sz="1350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CVE-2021-45709 </a:t>
            </a:r>
            <a:r>
              <a:rPr lang="zh-CN" altLang="en-US" sz="1350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的公开根因是未保证 4 字节对齐</a:t>
            </a:r>
            <a:r>
              <a:rPr lang="zh-CN" altLang="en-US" sz="1350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。</a:t>
            </a:r>
            <a:endParaRPr lang="zh-CN" altLang="en-US" sz="1350" b="1" dirty="0">
              <a:solidFill>
                <a:srgbClr val="D8823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lang="zh-CN" altLang="en-US" sz="1350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长度越界：</a:t>
            </a:r>
            <a:r>
              <a:rPr lang="en-US" altLang="zh-CN" sz="1350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</a:t>
            </a:r>
            <a:r>
              <a:rPr altLang="en-US" sz="1350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的输入会导致越界</a:t>
            </a:r>
            <a:endParaRPr altLang="en-US" sz="1350" b="1" dirty="0">
              <a:solidFill>
                <a:srgbClr val="D8823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3" name="arrow"/>
          <p:cNvGrpSpPr/>
          <p:nvPr/>
        </p:nvGrpSpPr>
        <p:grpSpPr>
          <a:xfrm>
            <a:off x="5838825" y="3578542"/>
            <a:ext cx="333375" cy="81915"/>
            <a:chOff x="5838825" y="3578542"/>
            <a:chExt cx="333375" cy="81915"/>
          </a:xfrm>
        </p:grpSpPr>
        <p:sp>
          <p:nvSpPr>
            <p:cNvPr id="11" name="Line 11"/>
            <p:cNvSpPr/>
            <p:nvPr/>
          </p:nvSpPr>
          <p:spPr>
            <a:xfrm>
              <a:off x="5838825" y="36195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rgbClr val="D88230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6096952" y="3578542"/>
              <a:ext cx="75247" cy="81915"/>
            </a:xfrm>
            <a:custGeom>
              <a:avLst/>
              <a:gdLst/>
              <a:ahLst/>
              <a:cxnLst/>
              <a:rect l="l" t="t" r="r" b="b"/>
              <a:pathLst>
                <a:path w="75247" h="81915">
                  <a:moveTo>
                    <a:pt x="75247" y="40958"/>
                  </a:moveTo>
                  <a:lnTo>
                    <a:pt x="0" y="81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8230"/>
            </a:solidFill>
            <a:ln>
              <a:noFill/>
            </a:ln>
          </p:spPr>
        </p:sp>
      </p:grpSp>
      <p:grpSp>
        <p:nvGrpSpPr>
          <p:cNvPr id="21" name="graphify-output"/>
          <p:cNvGrpSpPr/>
          <p:nvPr/>
        </p:nvGrpSpPr>
        <p:grpSpPr>
          <a:xfrm>
            <a:off x="6381750" y="1447800"/>
            <a:ext cx="5200650" cy="4419600"/>
            <a:chOff x="6381750" y="1447800"/>
            <a:chExt cx="5200650" cy="4419600"/>
          </a:xfrm>
        </p:grpSpPr>
        <p:sp>
          <p:nvSpPr>
            <p:cNvPr id="14" name="Rectangle 14"/>
            <p:cNvSpPr/>
            <p:nvPr/>
          </p:nvSpPr>
          <p:spPr>
            <a:xfrm>
              <a:off x="6381750" y="1447800"/>
              <a:ext cx="5200650" cy="4419600"/>
            </a:xfrm>
            <a:prstGeom prst="roundRect">
              <a:avLst>
                <a:gd name="adj" fmla="val 2155"/>
              </a:avLst>
            </a:prstGeom>
            <a:solidFill>
              <a:srgbClr val="FFF3E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00063" y="1638776"/>
              <a:ext cx="382482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D8823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Output · Graphify AST Graph</a:t>
              </a:r>
              <a:endParaRPr lang="en-US" sz="2020" b="1" dirty="0">
                <a:solidFill>
                  <a:srgbClr val="D8823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03492" y="1997392"/>
              <a:ext cx="36575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0758A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实测：--code-only · 5 nodes · 4 edges</a:t>
              </a:r>
              <a:endParaRPr lang="zh-CN" sz="1350" dirty="0">
                <a:solidFill>
                  <a:srgbClr val="60758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02730" y="2400300"/>
              <a:ext cx="6891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D8823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Nodes:</a:t>
              </a:r>
              <a:endParaRPr lang="en-US" sz="1500" b="1" dirty="0">
                <a:solidFill>
                  <a:srgbClr val="D882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03873" y="2700814"/>
              <a:ext cx="2426970" cy="11637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8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Package(graphify_poc)</a:t>
              </a:r>
              <a:br>
                <a:rPr lang="en-US" sz="128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28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File(src/lib.rs)</a:t>
              </a:r>
              <a:br>
                <a:rPr lang="en-US" sz="128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28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Const(STATE_LEN)</a:t>
              </a:r>
              <a:br>
                <a:rPr lang="en-US" sz="128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28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Function(xor_si512_inplace)</a:t>
              </a:r>
              <a:br>
                <a:rPr lang="en-US" sz="128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28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Function(demo)</a:t>
              </a:r>
              <a:endParaRPr lang="en-US" sz="128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02730" y="3943350"/>
              <a:ext cx="6891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D8823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Edges:</a:t>
              </a:r>
              <a:endParaRPr lang="en-US" sz="1500" b="1" dirty="0">
                <a:solidFill>
                  <a:srgbClr val="D882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03873" y="4243864"/>
              <a:ext cx="2954655" cy="1000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28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Contains(File → Const / Function)</a:t>
              </a:r>
              <a:br>
                <a:rPr lang="en-US" sz="128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28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Calls(demo → xor_si512_inplace)</a:t>
              </a:r>
              <a:endParaRPr lang="en-US" sz="128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  <a:p>
              <a:pPr algn="l">
                <a:lnSpc>
                  <a:spcPts val="1950"/>
                </a:lnSpc>
              </a:pPr>
              <a:endParaRPr lang="en-US" sz="128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  <a:p>
              <a:pPr algn="l">
                <a:lnSpc>
                  <a:spcPts val="1950"/>
                </a:lnSpc>
              </a:pPr>
              <a:endParaRPr lang="en-US" sz="128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4" name="missing"/>
          <p:cNvGrpSpPr/>
          <p:nvPr/>
        </p:nvGrpSpPr>
        <p:grpSpPr>
          <a:xfrm>
            <a:off x="571500" y="5979795"/>
            <a:ext cx="11010900" cy="1076960"/>
            <a:chOff x="571500" y="5979795"/>
            <a:chExt cx="11010900" cy="1076960"/>
          </a:xfrm>
        </p:grpSpPr>
        <p:sp>
          <p:nvSpPr>
            <p:cNvPr id="22" name="Rectangle 22"/>
            <p:cNvSpPr/>
            <p:nvPr/>
          </p:nvSpPr>
          <p:spPr>
            <a:xfrm>
              <a:off x="571500" y="5981700"/>
              <a:ext cx="11010900" cy="295275"/>
            </a:xfrm>
            <a:prstGeom prst="roundRect">
              <a:avLst>
                <a:gd name="adj" fmla="val 19355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5965" y="5979795"/>
              <a:ext cx="7922260" cy="1076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至少应能获取</a:t>
              </a:r>
              <a:r>
                <a:rPr sz="142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Unsafe 代码位置调用关系</a:t>
              </a:r>
              <a:r>
                <a:rPr lang="en-US" altLang="zh-CN" sz="142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  </a:t>
              </a:r>
              <a:r>
                <a:rPr sz="142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  <a:sym typeface="+mn-ea"/>
                </a:rPr>
                <a:t>调用关系、MIR 级过程信息</a:t>
              </a:r>
              <a:endParaRPr lang="zh-CN" sz="142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100"/>
                </a:lnSpc>
              </a:pPr>
              <a:endParaRPr sz="142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endParaRPr>
            </a:p>
            <a:p>
              <a:pPr algn="l">
                <a:lnSpc>
                  <a:spcPts val="2100"/>
                </a:lnSpc>
              </a:pPr>
              <a:endParaRPr lang="zh-CN" sz="142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>
                <a:lnSpc>
                  <a:spcPts val="2100"/>
                </a:lnSpc>
              </a:pPr>
              <a:endParaRPr lang="zh-CN" sz="142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15" y="1993900"/>
            <a:ext cx="3810000" cy="2673350"/>
          </a:xfrm>
          <a:prstGeom prst="rect">
            <a:avLst/>
          </a:prstGeom>
        </p:spPr>
      </p:pic>
      <p:sp>
        <p:nvSpPr>
          <p:cNvPr id="26" name="TextBox 9"/>
          <p:cNvSpPr txBox="1"/>
          <p:nvPr/>
        </p:nvSpPr>
        <p:spPr>
          <a:xfrm>
            <a:off x="6604127" y="4976813"/>
            <a:ext cx="4629150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350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只停留在文件、符号和函数调用关系</a:t>
            </a:r>
            <a:endParaRPr lang="zh-CN" altLang="en-US" sz="1350" b="1" dirty="0">
              <a:solidFill>
                <a:srgbClr val="D8823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lang="zh-CN" altLang="en-US" sz="1350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甚至没有继续把函数内部的语句、操作和数据流展开成图关系</a:t>
            </a:r>
            <a:endParaRPr lang="zh-CN" altLang="en-US" sz="1350" b="1" dirty="0">
              <a:solidFill>
                <a:srgbClr val="D8823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048000" y="3274060"/>
            <a:ext cx="6096000" cy="309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20" dirty="0">
                <a:solidFill>
                  <a:srgbClr val="243B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MIR </a:t>
            </a:r>
            <a:r>
              <a:rPr altLang="en-US" sz="1420" dirty="0">
                <a:solidFill>
                  <a:srgbClr val="243B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级过程信息</a:t>
            </a:r>
            <a:endParaRPr lang="zh-CN" altLang="en-US" sz="1420" dirty="0">
              <a:solidFill>
                <a:srgbClr val="243B53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18160" y="428625"/>
            <a:ext cx="7292531" cy="586740"/>
            <a:chOff x="518160" y="428625"/>
            <a:chExt cx="7292531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428625"/>
              <a:ext cx="729253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三类图谱融合：构建统一 Rust 工程表示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" name="intro"/>
          <p:cNvGrpSpPr/>
          <p:nvPr/>
        </p:nvGrpSpPr>
        <p:grpSpPr>
          <a:xfrm>
            <a:off x="544068" y="1260158"/>
            <a:ext cx="4173855" cy="673100"/>
            <a:chOff x="544068" y="1260158"/>
            <a:chExt cx="4173855" cy="673100"/>
          </a:xfrm>
        </p:grpSpPr>
        <p:sp>
          <p:nvSpPr>
            <p:cNvPr id="4" name="TextBox 4"/>
            <p:cNvSpPr txBox="1"/>
            <p:nvPr/>
          </p:nvSpPr>
          <p:spPr>
            <a:xfrm>
              <a:off x="544068" y="1260158"/>
              <a:ext cx="4173855" cy="673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融合 CKG、SCG、CPG三类图谱关注的信息，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统一关联到同一份 </a:t>
              </a:r>
              <a:r>
                <a:rPr lang="en-US" alt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Rust 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工程和源码位置</a:t>
              </a:r>
              <a:endParaRPr lang="zh-CN" altLang="en-US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" name="ckg-question"/>
          <p:cNvGrpSpPr/>
          <p:nvPr/>
        </p:nvGrpSpPr>
        <p:grpSpPr>
          <a:xfrm>
            <a:off x="571500" y="2495550"/>
            <a:ext cx="4724400" cy="828675"/>
            <a:chOff x="571500" y="2495550"/>
            <a:chExt cx="4724400" cy="828675"/>
          </a:xfrm>
        </p:grpSpPr>
        <p:sp>
          <p:nvSpPr>
            <p:cNvPr id="6" name="Rectangle 6"/>
            <p:cNvSpPr/>
            <p:nvPr/>
          </p:nvSpPr>
          <p:spPr>
            <a:xfrm>
              <a:off x="571500" y="2495550"/>
              <a:ext cx="4724400" cy="828675"/>
            </a:xfrm>
            <a:prstGeom prst="roundRect">
              <a:avLst>
                <a:gd name="adj" fmla="val 114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2592705"/>
              <a:ext cx="2329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代码知识图谱 CKG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3618" y="2974658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项目由什么组成，相关代码在哪里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scg-question"/>
          <p:cNvGrpSpPr/>
          <p:nvPr/>
        </p:nvGrpSpPr>
        <p:grpSpPr>
          <a:xfrm>
            <a:off x="571500" y="3609975"/>
            <a:ext cx="4724400" cy="828675"/>
            <a:chOff x="571500" y="3609975"/>
            <a:chExt cx="4724400" cy="828675"/>
          </a:xfrm>
        </p:grpSpPr>
        <p:sp>
          <p:nvSpPr>
            <p:cNvPr id="10" name="Rectangle 10"/>
            <p:cNvSpPr/>
            <p:nvPr/>
          </p:nvSpPr>
          <p:spPr>
            <a:xfrm>
              <a:off x="571500" y="3609975"/>
              <a:ext cx="4724400" cy="828675"/>
            </a:xfrm>
            <a:prstGeom prst="roundRect">
              <a:avLst>
                <a:gd name="adj" fmla="val 11494"/>
              </a:avLst>
            </a:prstGeom>
            <a:solidFill>
              <a:srgbClr val="EAF6F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1332" y="3707130"/>
              <a:ext cx="2329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语义代码图谱 SCG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3618" y="40890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代码实体之间是什么语义关系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cpg-question"/>
          <p:cNvGrpSpPr/>
          <p:nvPr/>
        </p:nvGrpSpPr>
        <p:grpSpPr>
          <a:xfrm>
            <a:off x="571500" y="4724400"/>
            <a:ext cx="4724400" cy="828675"/>
            <a:chOff x="571500" y="4724400"/>
            <a:chExt cx="4724400" cy="828675"/>
          </a:xfrm>
        </p:grpSpPr>
        <p:sp>
          <p:nvSpPr>
            <p:cNvPr id="14" name="Rectangle 14"/>
            <p:cNvSpPr/>
            <p:nvPr/>
          </p:nvSpPr>
          <p:spPr>
            <a:xfrm>
              <a:off x="571500" y="4724400"/>
              <a:ext cx="4724400" cy="828675"/>
            </a:xfrm>
            <a:prstGeom prst="roundRect">
              <a:avLst>
                <a:gd name="adj" fmla="val 11494"/>
              </a:avLst>
            </a:prstGeom>
            <a:solidFill>
              <a:srgbClr val="FFF3E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332" y="4821555"/>
              <a:ext cx="2046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代码属性图 CPG</a:t>
              </a:r>
              <a:endParaRPr lang="zh-CN" sz="21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3618" y="5203508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程序如何执行，数据如何传播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fusion-diagram"/>
          <p:cNvGrpSpPr/>
          <p:nvPr/>
        </p:nvGrpSpPr>
        <p:grpSpPr>
          <a:xfrm>
            <a:off x="5819775" y="1257300"/>
            <a:ext cx="5734050" cy="4346448"/>
            <a:chOff x="5819775" y="1257300"/>
            <a:chExt cx="5734050" cy="4346448"/>
          </a:xfrm>
        </p:grpSpPr>
        <p:sp>
          <p:nvSpPr>
            <p:cNvPr id="18" name="Rectangle 18"/>
            <p:cNvSpPr/>
            <p:nvPr/>
          </p:nvSpPr>
          <p:spPr>
            <a:xfrm>
              <a:off x="5819775" y="1257300"/>
              <a:ext cx="5734050" cy="5715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43929" y="1392555"/>
              <a:ext cx="40857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Rust Unified Representation</a:t>
              </a:r>
              <a:endParaRPr lang="en-US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6753225" y="2009775"/>
              <a:ext cx="3867150" cy="9525"/>
            </a:xfrm>
            <a:custGeom>
              <a:avLst/>
              <a:gdLst/>
              <a:ahLst/>
              <a:cxnLst/>
              <a:rect l="l" t="t" r="r" b="b"/>
              <a:pathLst>
                <a:path w="3867150" h="9525">
                  <a:moveTo>
                    <a:pt x="0" y="0"/>
                  </a:moveTo>
                  <a:lnTo>
                    <a:pt x="3867150" y="0"/>
                  </a:lnTo>
                </a:path>
              </a:pathLst>
            </a:custGeom>
            <a:noFill/>
            <a:ln w="19050">
              <a:solidFill>
                <a:srgbClr val="60758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686800" y="18288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19050">
              <a:solidFill>
                <a:srgbClr val="60758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753225" y="2009775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9050">
              <a:solidFill>
                <a:srgbClr val="60758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0620375" y="2009775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9050">
              <a:solidFill>
                <a:srgbClr val="60758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819775" y="2209800"/>
              <a:ext cx="1866900" cy="2371725"/>
            </a:xfrm>
            <a:prstGeom prst="roundRect">
              <a:avLst>
                <a:gd name="adj" fmla="val 51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64560" y="2328862"/>
              <a:ext cx="5773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CKG</a:t>
              </a:r>
              <a:endParaRPr lang="en-US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00597" y="2755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工程结构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11418" y="3193732"/>
              <a:ext cx="11678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Workspace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1418" y="3527108"/>
              <a:ext cx="6345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Crate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1418" y="3860482"/>
              <a:ext cx="7454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Module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1418" y="4193858"/>
              <a:ext cx="12453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Dependency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772400" y="2209800"/>
              <a:ext cx="1838325" cy="2371725"/>
            </a:xfrm>
            <a:prstGeom prst="roundRect">
              <a:avLst>
                <a:gd name="adj" fmla="val 5181"/>
              </a:avLst>
            </a:prstGeom>
            <a:solidFill>
              <a:srgbClr val="EAF6F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98135" y="2328862"/>
              <a:ext cx="5773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SCG</a:t>
              </a:r>
              <a:endParaRPr lang="en-US" sz="22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34172" y="2755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代码语义</a:t>
              </a:r>
              <a:endParaRPr lang="zh-CN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64043" y="3193732"/>
              <a:ext cx="9450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Function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64043" y="3527108"/>
              <a:ext cx="578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Trait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64043" y="3860482"/>
              <a:ext cx="5123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Type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64043" y="4193858"/>
              <a:ext cx="3997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Call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696450" y="2209800"/>
              <a:ext cx="1857375" cy="2371725"/>
            </a:xfrm>
            <a:prstGeom prst="roundRect">
              <a:avLst>
                <a:gd name="adj" fmla="val 5128"/>
              </a:avLst>
            </a:prstGeom>
            <a:solidFill>
              <a:srgbClr val="FFF3E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31710" y="2328862"/>
              <a:ext cx="5773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CPG</a:t>
              </a:r>
              <a:endParaRPr lang="en-US" sz="22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67747" y="2755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程序行为</a:t>
              </a:r>
              <a:endParaRPr lang="zh-CN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88093" y="3193732"/>
              <a:ext cx="4040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CFG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88093" y="3527108"/>
              <a:ext cx="1064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Data Flow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88093" y="3860482"/>
              <a:ext cx="11399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BasicBlock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88093" y="4193858"/>
              <a:ext cx="11120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Operation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Line 45"/>
            <p:cNvSpPr/>
            <p:nvPr/>
          </p:nvSpPr>
          <p:spPr>
            <a:xfrm>
              <a:off x="6753225" y="45815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60758A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8686800" y="4581525"/>
              <a:ext cx="1" cy="409575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47" name="Line 47"/>
            <p:cNvSpPr/>
            <p:nvPr/>
          </p:nvSpPr>
          <p:spPr>
            <a:xfrm>
              <a:off x="10620375" y="45815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60758A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6753225" y="4810125"/>
              <a:ext cx="3867150" cy="9525"/>
            </a:xfrm>
            <a:custGeom>
              <a:avLst/>
              <a:gdLst/>
              <a:ahLst/>
              <a:cxnLst/>
              <a:rect l="l" t="t" r="r" b="b"/>
              <a:pathLst>
                <a:path w="3867150" h="9525">
                  <a:moveTo>
                    <a:pt x="0" y="0"/>
                  </a:moveTo>
                  <a:lnTo>
                    <a:pt x="3867150" y="0"/>
                  </a:lnTo>
                </a:path>
              </a:pathLst>
            </a:custGeom>
            <a:noFill/>
            <a:ln w="19050">
              <a:solidFill>
                <a:srgbClr val="60758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19775" y="5114925"/>
              <a:ext cx="5734050" cy="428625"/>
            </a:xfrm>
            <a:prstGeom prst="roundRect">
              <a:avLst>
                <a:gd name="adj" fmla="val 1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51729" y="5193030"/>
              <a:ext cx="24701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Rust 智能解析底座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conclusion"/>
          <p:cNvGrpSpPr/>
          <p:nvPr/>
        </p:nvGrpSpPr>
        <p:grpSpPr>
          <a:xfrm>
            <a:off x="541782" y="5897880"/>
            <a:ext cx="8996045" cy="322580"/>
            <a:chOff x="541782" y="5897880"/>
            <a:chExt cx="8996045" cy="322580"/>
          </a:xfrm>
        </p:grpSpPr>
        <p:sp>
          <p:nvSpPr>
            <p:cNvPr id="52" name="TextBox 52"/>
            <p:cNvSpPr txBox="1"/>
            <p:nvPr/>
          </p:nvSpPr>
          <p:spPr>
            <a:xfrm>
              <a:off x="541782" y="5897880"/>
              <a:ext cx="8996045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最终形成统一的 Rust 工程表示，为下层 Agent 提供不同粒度的代码上下文。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7304" y="6376035"/>
            <a:ext cx="11099292" cy="234696"/>
            <a:chOff x="527304" y="6376035"/>
            <a:chExt cx="11099292" cy="234696"/>
          </a:xfrm>
        </p:grpSpPr>
        <p:sp>
          <p:nvSpPr>
            <p:cNvPr id="54" name="TextBox 54"/>
            <p:cNvSpPr txBox="1"/>
            <p:nvPr/>
          </p:nvSpPr>
          <p:spPr>
            <a:xfrm>
              <a:off x="527304" y="6376035"/>
              <a:ext cx="55270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方案示意：融合三类图谱关注的信息，具体节点与关系在 Schema 中统一定义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73232" y="63760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11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99110" y="428625"/>
            <a:ext cx="8134612" cy="849440"/>
            <a:chOff x="499110" y="428625"/>
            <a:chExt cx="8134612" cy="849440"/>
          </a:xfrm>
        </p:grpSpPr>
        <p:sp>
          <p:nvSpPr>
            <p:cNvPr id="2" name="TextBox 2"/>
            <p:cNvSpPr txBox="1"/>
            <p:nvPr/>
          </p:nvSpPr>
          <p:spPr>
            <a:xfrm>
              <a:off x="499110" y="428625"/>
              <a:ext cx="81346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 提供源码语义，rustc 补充 MIR 过程信息</a:t>
              </a:r>
              <a:endParaRPr lang="zh-CN" sz="30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543" y="955358"/>
              <a:ext cx="50475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两路数据分层提取，再映射到同一张 Rust 工程图谱</a:t>
              </a:r>
              <a:endParaRPr lang="zh-CN" sz="16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614404" y="6328410"/>
            <a:ext cx="5062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 / 17</a:t>
            </a:r>
            <a:endParaRPr lang="zh-CN" sz="1200" dirty="0">
              <a:solidFill>
                <a:srgbClr val="60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7" name="ra-layer"/>
          <p:cNvGrpSpPr/>
          <p:nvPr/>
        </p:nvGrpSpPr>
        <p:grpSpPr>
          <a:xfrm>
            <a:off x="571500" y="1562100"/>
            <a:ext cx="5276850" cy="3800475"/>
            <a:chOff x="571500" y="1562100"/>
            <a:chExt cx="5276850" cy="3800475"/>
          </a:xfrm>
        </p:grpSpPr>
        <p:sp>
          <p:nvSpPr>
            <p:cNvPr id="6" name="Rectangle 6"/>
            <p:cNvSpPr/>
            <p:nvPr/>
          </p:nvSpPr>
          <p:spPr>
            <a:xfrm>
              <a:off x="571500" y="1562100"/>
              <a:ext cx="5276850" cy="3800475"/>
            </a:xfrm>
            <a:prstGeom prst="roundRect">
              <a:avLst>
                <a:gd name="adj" fmla="val 2506"/>
              </a:avLst>
            </a:prstGeom>
            <a:solidFill>
              <a:srgbClr val="EAF6F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08482" y="1744980"/>
              <a:ext cx="34458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8C9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rust-analyzer · 源码语义层</a:t>
              </a:r>
              <a:endParaRPr lang="zh-CN" sz="2100" b="1" dirty="0">
                <a:solidFill>
                  <a:srgbClr val="008C9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0387" y="2356961"/>
              <a:ext cx="129718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L0 工程输入</a:t>
              </a:r>
              <a:endParaRPr lang="zh-CN" sz="172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3054" y="2708910"/>
              <a:ext cx="4405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CrateGraph · Module · File · Feature · Dependency</a:t>
              </a:r>
              <a:endParaRPr lang="en-US" sz="120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387" y="3014186"/>
              <a:ext cx="129718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L1 源码实体</a:t>
              </a:r>
              <a:endParaRPr lang="zh-CN" sz="172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3054" y="3366135"/>
              <a:ext cx="45862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Function · Struct · Enum · Trait · Impl · Parameter</a:t>
              </a:r>
              <a:endParaRPr lang="en-US" sz="120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0387" y="3671411"/>
              <a:ext cx="129718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L2 源码语义</a:t>
              </a:r>
              <a:endParaRPr lang="zh-CN" sz="172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3054" y="4023360"/>
              <a:ext cx="46688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Definition · Reference · ExprType · MethodResolution</a:t>
              </a:r>
              <a:endParaRPr lang="en-US" sz="120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0387" y="4328636"/>
              <a:ext cx="129718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L3 源码映射</a:t>
              </a:r>
              <a:endParaRPr lang="zh-CN" sz="172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1911" y="4656296"/>
              <a:ext cx="39472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CallSite · MacroExpansion · SourceMap</a:t>
              </a:r>
              <a:endParaRPr lang="en-US" sz="142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1149" y="4983004"/>
              <a:ext cx="36318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回答：代码是谁、在哪里、如何关联？</a:t>
              </a:r>
              <a:endParaRPr lang="zh-CN" sz="1580" b="1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rustc-layer"/>
          <p:cNvGrpSpPr/>
          <p:nvPr/>
        </p:nvGrpSpPr>
        <p:grpSpPr>
          <a:xfrm>
            <a:off x="6153150" y="1562100"/>
            <a:ext cx="5429250" cy="3800475"/>
            <a:chOff x="6153150" y="1562100"/>
            <a:chExt cx="5429250" cy="3800475"/>
          </a:xfrm>
        </p:grpSpPr>
        <p:sp>
          <p:nvSpPr>
            <p:cNvPr id="18" name="Rectangle 18"/>
            <p:cNvSpPr/>
            <p:nvPr/>
          </p:nvSpPr>
          <p:spPr>
            <a:xfrm>
              <a:off x="6153150" y="1562100"/>
              <a:ext cx="5429250" cy="3800475"/>
            </a:xfrm>
            <a:prstGeom prst="roundRect">
              <a:avLst>
                <a:gd name="adj" fmla="val 2506"/>
              </a:avLst>
            </a:prstGeom>
            <a:solidFill>
              <a:srgbClr val="FFF3E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90132" y="1744980"/>
              <a:ext cx="24413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8823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rustc · MIR 过程层</a:t>
              </a:r>
              <a:endParaRPr lang="zh-CN" sz="2100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2037" y="2356961"/>
              <a:ext cx="106564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L0 函数体</a:t>
              </a:r>
              <a:endParaRPr lang="zh-CN" sz="172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93561" y="2684621"/>
              <a:ext cx="34203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Body · Local · SourceInfo / Span</a:t>
              </a:r>
              <a:endParaRPr lang="en-US" sz="142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92037" y="3014186"/>
              <a:ext cx="106564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L1 控制流</a:t>
              </a:r>
              <a:endParaRPr lang="zh-CN" sz="172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3561" y="3341846"/>
              <a:ext cx="49927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BasicBlock · Statement · Terminator · Successor</a:t>
              </a:r>
              <a:endParaRPr lang="en-US" sz="142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2037" y="3671411"/>
              <a:ext cx="152873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L2 操作与位置</a:t>
              </a:r>
              <a:endParaRPr lang="zh-CN" sz="172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93561" y="3999071"/>
              <a:ext cx="41578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Place · Operand · Rvalue · Read / Write</a:t>
              </a:r>
              <a:endParaRPr lang="en-US" sz="142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2037" y="4328636"/>
              <a:ext cx="129718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L3 调用与值</a:t>
              </a:r>
              <a:endParaRPr lang="zh-CN" sz="172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94704" y="4680585"/>
              <a:ext cx="4849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Call · Argument · Destination · Return · Derived Value</a:t>
              </a:r>
              <a:endParaRPr lang="en-US" sz="120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92799" y="4983004"/>
              <a:ext cx="34191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回答：程序如何执行、值如何传递？</a:t>
              </a:r>
              <a:endParaRPr lang="zh-CN" sz="1580" b="1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summary"/>
          <p:cNvGrpSpPr/>
          <p:nvPr/>
        </p:nvGrpSpPr>
        <p:grpSpPr>
          <a:xfrm>
            <a:off x="571500" y="5629275"/>
            <a:ext cx="11010900" cy="562356"/>
            <a:chOff x="571500" y="5629275"/>
            <a:chExt cx="11010900" cy="562356"/>
          </a:xfrm>
        </p:grpSpPr>
        <p:sp>
          <p:nvSpPr>
            <p:cNvPr id="30" name="Rectangle 30"/>
            <p:cNvSpPr/>
            <p:nvPr/>
          </p:nvSpPr>
          <p:spPr>
            <a:xfrm>
              <a:off x="571500" y="5629275"/>
              <a:ext cx="11010900" cy="514350"/>
            </a:xfrm>
            <a:prstGeom prst="roundRect">
              <a:avLst>
                <a:gd name="adj" fmla="val 14815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2861" y="5713571"/>
              <a:ext cx="69090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 建立实体、类型与源码映射；rustc 补充 MIR 控制流、操作、调用和值关系。</a:t>
              </a:r>
              <a:endParaRPr lang="zh-CN" sz="142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004" y="5956935"/>
              <a:ext cx="7843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两路结果统一映射为 Function / CallSite / BasicBlock / Operation / Value，供 Unsafe 取证与 Fuzz 入口构造。</a:t>
              </a:r>
              <a:endParaRPr lang="zh-CN" sz="12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8160" y="428625"/>
            <a:ext cx="64922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整体构想：提取、关联、查询、应用</a:t>
            </a:r>
            <a:endParaRPr lang="zh-CN" sz="30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8" name="takeaway"/>
          <p:cNvGrpSpPr/>
          <p:nvPr/>
        </p:nvGrpSpPr>
        <p:grpSpPr>
          <a:xfrm>
            <a:off x="663893" y="5928677"/>
            <a:ext cx="4888865" cy="253365"/>
            <a:chOff x="663893" y="5928677"/>
            <a:chExt cx="4888865" cy="253365"/>
          </a:xfrm>
        </p:grpSpPr>
        <p:sp>
          <p:nvSpPr>
            <p:cNvPr id="7" name="TextBox 7"/>
            <p:cNvSpPr txBox="1"/>
            <p:nvPr/>
          </p:nvSpPr>
          <p:spPr>
            <a:xfrm>
              <a:off x="663893" y="5928677"/>
              <a:ext cx="488886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Rust </a:t>
              </a:r>
              <a:r>
                <a:rPr lang="zh-CN" altLang="en-US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语义图谱 → 查询与分析接口 → </a:t>
              </a:r>
              <a:r>
                <a:rPr lang="en-US" alt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MCP </a:t>
              </a:r>
              <a:r>
                <a:rPr altLang="en-US" sz="1650" dirty="0">
                  <a:solidFill>
                    <a:schemeClr val="accent2"/>
                  </a:solidFill>
                  <a:sym typeface="+mn-ea"/>
                </a:rPr>
                <a:t>→</a:t>
              </a:r>
              <a:r>
                <a:rPr lang="en-US" alt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zh-CN" altLang="en-US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alt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Agent </a:t>
              </a:r>
              <a:endParaRPr lang="zh-CN" altLang="en-US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073130" y="6347460"/>
            <a:ext cx="55308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 / 11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690" y="1010920"/>
            <a:ext cx="9972040" cy="4513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8160" y="428625"/>
            <a:ext cx="7499350" cy="770572"/>
            <a:chOff x="518160" y="428625"/>
            <a:chExt cx="7499350" cy="770572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428625"/>
              <a:ext cx="749935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 作为库：</a:t>
              </a:r>
              <a:r>
                <a:rPr lang="zh-CN" alt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提供工程、语法与语义查询能力</a:t>
              </a:r>
              <a:endParaRPr lang="zh-CN" altLang="en-US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4068" y="945832"/>
              <a:ext cx="711644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直接在 </a:t>
              </a:r>
              <a:r>
                <a:rPr lang="en-US" alt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Rust </a:t>
              </a:r>
              <a:r>
                <a:rPr lang="zh-CN" alt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程序中复用 </a:t>
              </a:r>
              <a:r>
                <a:rPr lang="en-US" alt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rust-analyzer </a:t>
              </a:r>
              <a:r>
                <a:rPr lang="zh-CN" alt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的分析能力，为主体语义图谱提供数据</a:t>
              </a:r>
              <a:endParaRPr lang="zh-CN" alt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library-architecture"/>
          <p:cNvGrpSpPr/>
          <p:nvPr/>
        </p:nvGrpSpPr>
        <p:grpSpPr>
          <a:xfrm>
            <a:off x="571500" y="1638300"/>
            <a:ext cx="10953750" cy="3467100"/>
            <a:chOff x="571500" y="1638300"/>
            <a:chExt cx="10953750" cy="3467100"/>
          </a:xfrm>
        </p:grpSpPr>
        <p:sp>
          <p:nvSpPr>
            <p:cNvPr id="5" name="Rectangle 5"/>
            <p:cNvSpPr/>
            <p:nvPr/>
          </p:nvSpPr>
          <p:spPr>
            <a:xfrm>
              <a:off x="571500" y="1638300"/>
              <a:ext cx="3190875" cy="16002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0382" y="18402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工程加载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72668" y="23174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ra_ap_project_model</a:t>
              </a:r>
              <a:endParaRPr lang="en-US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2668" y="2707958"/>
              <a:ext cx="25233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Cargo 模型 · crate 依赖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3505200"/>
              <a:ext cx="3190875" cy="16002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0382" y="37071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源码输入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2668" y="4184332"/>
              <a:ext cx="1116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ra_ap_vfs</a:t>
              </a:r>
              <a:endParaRPr lang="en-US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668" y="4574858"/>
              <a:ext cx="20491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文件标识 · 内容映射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3857625" y="2428875"/>
              <a:ext cx="419100" cy="419100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 flipV="1">
              <a:off x="3857625" y="3886200"/>
              <a:ext cx="419100" cy="428625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29125" y="1638300"/>
              <a:ext cx="3190875" cy="1600200"/>
            </a:xfrm>
            <a:prstGeom prst="roundRect">
              <a:avLst>
                <a:gd name="adj" fmla="val 7143"/>
              </a:avLst>
            </a:prstGeom>
            <a:solidFill>
              <a:srgbClr val="EAF6F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28007" y="18402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语法结构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30293" y="2317432"/>
              <a:ext cx="1482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ra_ap_syntax</a:t>
              </a:r>
              <a:endParaRPr lang="en-US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0293" y="2707958"/>
              <a:ext cx="25175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AST · 字段 · 签名 · 位置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29125" y="3505200"/>
              <a:ext cx="3190875" cy="1600200"/>
            </a:xfrm>
            <a:prstGeom prst="roundRect">
              <a:avLst>
                <a:gd name="adj" fmla="val 7143"/>
              </a:avLst>
            </a:prstGeom>
            <a:solidFill>
              <a:srgbClr val="EAF6F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8007" y="37071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语义模型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30293" y="4184332"/>
              <a:ext cx="24130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ra_ap_hir / Semantics</a:t>
              </a:r>
              <a:endParaRPr lang="en-US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30293" y="4574858"/>
              <a:ext cx="25378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定义 · 类型 · impl · 解析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7715250" y="2428875"/>
              <a:ext cx="428625" cy="409575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24" name="Line 24"/>
            <p:cNvSpPr/>
            <p:nvPr/>
          </p:nvSpPr>
          <p:spPr>
            <a:xfrm flipV="1">
              <a:off x="7715250" y="3905250"/>
              <a:ext cx="428625" cy="409575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315325" y="2143125"/>
              <a:ext cx="3209925" cy="2438400"/>
            </a:xfrm>
            <a:prstGeom prst="roundRect">
              <a:avLst>
                <a:gd name="adj" fmla="val 468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33257" y="2421255"/>
              <a:ext cx="16853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IDE 查询入口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35543" y="294608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2CDD1"/>
                  </a:solidFill>
                  <a:latin typeface="+mn-lt"/>
                  <a:ea typeface="+mn-ea"/>
                  <a:cs typeface="+mn-cs"/>
                </a:rPr>
                <a:t>ra_ap_ide</a:t>
              </a:r>
              <a:endParaRPr lang="en-US" sz="1650" dirty="0">
                <a:solidFill>
                  <a:srgbClr val="72CDD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35543" y="3365182"/>
              <a:ext cx="25144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AnalysisHost / Analysis</a:t>
              </a:r>
              <a:endParaRPr lang="en-US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35543" y="3812858"/>
              <a:ext cx="23046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结构 · 引用 · 调用层级</a:t>
              </a:r>
              <a:endParaRPr lang="zh-CN" sz="16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boundary"/>
          <p:cNvGrpSpPr/>
          <p:nvPr/>
        </p:nvGrpSpPr>
        <p:grpSpPr>
          <a:xfrm>
            <a:off x="571627" y="5707380"/>
            <a:ext cx="7200900" cy="645795"/>
            <a:chOff x="673862" y="5707380"/>
            <a:chExt cx="7200900" cy="645795"/>
          </a:xfrm>
        </p:grpSpPr>
        <p:sp>
          <p:nvSpPr>
            <p:cNvPr id="31" name="TextBox 31"/>
            <p:cNvSpPr txBox="1"/>
            <p:nvPr/>
          </p:nvSpPr>
          <p:spPr>
            <a:xfrm>
              <a:off x="673862" y="5707380"/>
              <a:ext cx="7200900" cy="645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 </a:t>
              </a:r>
              <a:r>
                <a:rPr lang="zh-CN" alt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负责提供工程、语法和语义分析结果；</a:t>
              </a:r>
              <a:endParaRPr lang="zh-CN" altLang="en-US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我们负责将这些结果转换为图谱中的节点、关系并进行存储。</a:t>
              </a:r>
              <a:endParaRPr lang="zh-CN" altLang="en-US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8160" y="428625"/>
            <a:ext cx="9066530" cy="839914"/>
            <a:chOff x="518160" y="428625"/>
            <a:chExt cx="9066530" cy="839914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428625"/>
              <a:ext cx="906653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 </a:t>
              </a:r>
              <a:r>
                <a:rPr lang="zh-CN" alt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构图的可行性：定位实体 → 解析语义 → 生成图谱</a:t>
              </a:r>
              <a:endParaRPr lang="zh-CN" altLang="en-US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4068" y="945832"/>
              <a:ext cx="5027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file_structure 是初始入口，AST 与语义查询配合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extraction-flow"/>
          <p:cNvGrpSpPr/>
          <p:nvPr/>
        </p:nvGrpSpPr>
        <p:grpSpPr>
          <a:xfrm>
            <a:off x="571500" y="1762125"/>
            <a:ext cx="11010900" cy="1752600"/>
            <a:chOff x="571500" y="1762125"/>
            <a:chExt cx="11010900" cy="1752600"/>
          </a:xfrm>
        </p:grpSpPr>
        <p:sp>
          <p:nvSpPr>
            <p:cNvPr id="5" name="Rectangle 5"/>
            <p:cNvSpPr/>
            <p:nvPr/>
          </p:nvSpPr>
          <p:spPr>
            <a:xfrm>
              <a:off x="571500" y="1762125"/>
              <a:ext cx="1905000" cy="1752600"/>
            </a:xfrm>
            <a:prstGeom prst="roundRect">
              <a:avLst>
                <a:gd name="adj" fmla="val 54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3618" y="1917382"/>
              <a:ext cx="9607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加载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1332" y="2306955"/>
              <a:ext cx="15023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Cargo 工程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3618" y="28032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文件与配置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3618" y="31080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分析数据库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2571750" y="2628900"/>
              <a:ext cx="209550" cy="1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857500" y="1762125"/>
              <a:ext cx="1905000" cy="1752600"/>
            </a:xfrm>
            <a:prstGeom prst="roundRect">
              <a:avLst>
                <a:gd name="adj" fmla="val 54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39618" y="1917382"/>
              <a:ext cx="9607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定位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37332" y="23069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符号列表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01518" y="2803208"/>
              <a:ext cx="16160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file_structure</a:t>
              </a:r>
              <a:endParaRPr lang="en-US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39618" y="31080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种类与范围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4857750" y="2628900"/>
              <a:ext cx="209550" cy="1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43500" y="1762125"/>
              <a:ext cx="1905000" cy="1752600"/>
            </a:xfrm>
            <a:prstGeom prst="roundRect">
              <a:avLst>
                <a:gd name="adj" fmla="val 54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25618" y="1917382"/>
              <a:ext cx="9607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补充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23332" y="2306955"/>
              <a:ext cx="11983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AST 细节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25618" y="28032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字段与签名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25618" y="31080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调用与引用位置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7143750" y="2628900"/>
              <a:ext cx="209550" cy="1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429500" y="1762125"/>
              <a:ext cx="1905000" cy="1752600"/>
            </a:xfrm>
            <a:prstGeom prst="roundRect">
              <a:avLst>
                <a:gd name="adj" fmla="val 5435"/>
              </a:avLst>
            </a:prstGeom>
            <a:solidFill>
              <a:srgbClr val="EAF6F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11618" y="1917382"/>
              <a:ext cx="9607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解析</a:t>
              </a:r>
              <a:endParaRPr lang="zh-CN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09332" y="23069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语义查询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11618" y="28032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类型与定义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11618" y="31080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调用目标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9429750" y="2628900"/>
              <a:ext cx="209550" cy="1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715500" y="1762125"/>
              <a:ext cx="1866900" cy="1752600"/>
            </a:xfrm>
            <a:prstGeom prst="roundRect">
              <a:avLst>
                <a:gd name="adj" fmla="val 5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97618" y="1917382"/>
              <a:ext cx="9607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构图</a:t>
              </a:r>
              <a:endParaRPr lang="zh-CN" sz="16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95332" y="23069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统一映射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97618" y="2803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节点与边</a:t>
              </a:r>
              <a:endParaRPr lang="zh-CN" sz="16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97618" y="31080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存储与索引</a:t>
              </a:r>
              <a:endParaRPr lang="zh-CN" sz="16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example"/>
          <p:cNvGrpSpPr/>
          <p:nvPr/>
        </p:nvGrpSpPr>
        <p:grpSpPr>
          <a:xfrm>
            <a:off x="571500" y="4067175"/>
            <a:ext cx="11010900" cy="1285875"/>
            <a:chOff x="571500" y="4067175"/>
            <a:chExt cx="11010900" cy="1285875"/>
          </a:xfrm>
        </p:grpSpPr>
        <p:sp>
          <p:nvSpPr>
            <p:cNvPr id="35" name="Rectangle 35"/>
            <p:cNvSpPr/>
            <p:nvPr/>
          </p:nvSpPr>
          <p:spPr>
            <a:xfrm>
              <a:off x="571500" y="4067175"/>
              <a:ext cx="11010900" cy="1285875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768" y="4270058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一个调用点如何进入图谱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8482" y="4697730"/>
              <a:ext cx="20426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storage.get()</a:t>
              </a:r>
              <a:endParaRPr lang="en-US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2962275" y="4829175"/>
              <a:ext cx="752475" cy="1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951732" y="4697730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查询接收者类型与目标定义</a:t>
              </a:r>
              <a:endParaRPr lang="zh-CN" sz="21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7543800" y="4829175"/>
              <a:ext cx="571500" cy="1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61807" y="4697730"/>
              <a:ext cx="25783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CallSite → Function</a:t>
              </a:r>
              <a:endParaRPr lang="en-US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boundary"/>
          <p:cNvGrpSpPr/>
          <p:nvPr/>
        </p:nvGrpSpPr>
        <p:grpSpPr>
          <a:xfrm>
            <a:off x="595503" y="5768657"/>
            <a:ext cx="9848850" cy="507365"/>
            <a:chOff x="563118" y="5746432"/>
            <a:chExt cx="9848850" cy="507365"/>
          </a:xfrm>
        </p:grpSpPr>
        <p:sp>
          <p:nvSpPr>
            <p:cNvPr id="43" name="TextBox 43"/>
            <p:cNvSpPr txBox="1"/>
            <p:nvPr/>
          </p:nvSpPr>
          <p:spPr>
            <a:xfrm>
              <a:off x="563118" y="5746432"/>
              <a:ext cx="984885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调用目标无法确定时保留“未解析”；泛型调用根据具体类型上下文解析，动态分发保留可能的调用目标。</a:t>
              </a:r>
              <a:endParaRPr lang="zh-CN" altLang="en-US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数据流、所有权及 </a:t>
              </a:r>
              <a:r>
                <a:rPr lang="en-US" alt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Unsafe </a:t>
              </a:r>
              <a:r>
                <a:rPr lang="zh-CN" alt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路径等信息，仍需在</a:t>
              </a:r>
              <a:r>
                <a:rPr lang="en-US" alt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MIR </a:t>
              </a:r>
              <a:r>
                <a:rPr lang="zh-CN" alt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基础上进一步分析。</a:t>
              </a:r>
              <a:endParaRPr lang="zh-CN" altLang="en-US" sz="16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073130" y="6328410"/>
            <a:ext cx="55308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 / 11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99110" y="428625"/>
            <a:ext cx="8657015" cy="849440"/>
            <a:chOff x="499110" y="428625"/>
            <a:chExt cx="8657015" cy="849440"/>
          </a:xfrm>
        </p:grpSpPr>
        <p:sp>
          <p:nvSpPr>
            <p:cNvPr id="2" name="TextBox 2"/>
            <p:cNvSpPr txBox="1"/>
            <p:nvPr/>
          </p:nvSpPr>
          <p:spPr>
            <a:xfrm>
              <a:off x="499110" y="428625"/>
              <a:ext cx="86570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rustc 接入：补充 RA 无法提供的 MIR 过程事实</a:t>
              </a:r>
              <a:endParaRPr lang="zh-CN" sz="30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543" y="955358"/>
              <a:ext cx="8457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目标不是重复源码语义，而是把程序执行过程、值关系与调用上下文补进同一张图谱。</a:t>
              </a:r>
              <a:endParaRPr lang="zh-CN" sz="16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614404" y="6328410"/>
            <a:ext cx="5062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 / 17</a:t>
            </a:r>
            <a:endParaRPr lang="zh-CN" sz="1200" dirty="0">
              <a:solidFill>
                <a:srgbClr val="60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1" name="mir-step-0"/>
          <p:cNvGrpSpPr/>
          <p:nvPr/>
        </p:nvGrpSpPr>
        <p:grpSpPr>
          <a:xfrm>
            <a:off x="571500" y="1485900"/>
            <a:ext cx="11010900" cy="695325"/>
            <a:chOff x="571500" y="1485900"/>
            <a:chExt cx="11010900" cy="695325"/>
          </a:xfrm>
        </p:grpSpPr>
        <p:sp>
          <p:nvSpPr>
            <p:cNvPr id="6" name="Rectangle 6"/>
            <p:cNvSpPr/>
            <p:nvPr/>
          </p:nvSpPr>
          <p:spPr>
            <a:xfrm>
              <a:off x="571500" y="1485900"/>
              <a:ext cx="11010900" cy="695325"/>
            </a:xfrm>
            <a:prstGeom prst="roundRect">
              <a:avLst>
                <a:gd name="adj" fmla="val 10959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906" y="1596390"/>
              <a:ext cx="153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zh-CN" sz="1800" b="1" dirty="0">
                <a:solidFill>
                  <a:srgbClr val="17324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6731" y="1577340"/>
              <a:ext cx="19131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 已有主体图谱</a:t>
              </a:r>
              <a:endParaRPr lang="zh-CN" sz="18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88892" y="1606868"/>
              <a:ext cx="4454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Function / Parameter / CallSite / SourceSpan</a:t>
              </a:r>
              <a:endParaRPr lang="en-US" sz="135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89273" y="187213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作为对齐锚点</a:t>
              </a:r>
              <a:endParaRPr lang="zh-CN" sz="128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2" name="Line 12"/>
          <p:cNvSpPr/>
          <p:nvPr/>
        </p:nvSpPr>
        <p:spPr>
          <a:xfrm>
            <a:off x="876300" y="2200275"/>
            <a:ext cx="9525" cy="123825"/>
          </a:xfrm>
          <a:custGeom>
            <a:avLst/>
            <a:gdLst/>
            <a:ahLst/>
            <a:cxnLst/>
            <a:rect l="l" t="t" r="r" b="b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9050">
            <a:solidFill>
              <a:srgbClr val="60758A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790575" y="2276475"/>
            <a:ext cx="85725" cy="95250"/>
          </a:xfrm>
          <a:custGeom>
            <a:avLst/>
            <a:gdLst/>
            <a:ahLst/>
            <a:cxnLst/>
            <a:rect l="l" t="t" r="r" b="b"/>
            <a:pathLst>
              <a:path w="85725" h="95250">
                <a:moveTo>
                  <a:pt x="8572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60758A"/>
          </a:solidFill>
          <a:ln>
            <a:noFill/>
          </a:ln>
        </p:spPr>
      </p:sp>
      <p:grpSp>
        <p:nvGrpSpPr>
          <p:cNvPr id="19" name="mir-step-1"/>
          <p:cNvGrpSpPr/>
          <p:nvPr/>
        </p:nvGrpSpPr>
        <p:grpSpPr>
          <a:xfrm>
            <a:off x="571500" y="2352675"/>
            <a:ext cx="11010900" cy="695325"/>
            <a:chOff x="571500" y="2352675"/>
            <a:chExt cx="11010900" cy="695325"/>
          </a:xfrm>
        </p:grpSpPr>
        <p:sp>
          <p:nvSpPr>
            <p:cNvPr id="14" name="Rectangle 14"/>
            <p:cNvSpPr/>
            <p:nvPr/>
          </p:nvSpPr>
          <p:spPr>
            <a:xfrm>
              <a:off x="571500" y="2352675"/>
              <a:ext cx="11010900" cy="695325"/>
            </a:xfrm>
            <a:prstGeom prst="roundRect">
              <a:avLst>
                <a:gd name="adj" fmla="val 10959"/>
              </a:avLst>
            </a:prstGeom>
            <a:solidFill>
              <a:srgbClr val="EAF6F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1906" y="2463165"/>
              <a:ext cx="153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8C9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zh-CN" sz="1800" b="1" dirty="0">
                <a:solidFill>
                  <a:srgbClr val="008C9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76731" y="2444115"/>
              <a:ext cx="24416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进入 rustc 编译上下文</a:t>
              </a:r>
              <a:endParaRPr lang="zh-CN" sz="18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88892" y="2473642"/>
              <a:ext cx="4225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workspace wrapper → custom driver → TyCtxt</a:t>
              </a:r>
              <a:endParaRPr lang="en-US" sz="135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89273" y="2738914"/>
              <a:ext cx="2550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沿真实 target / cfg / features 提取</a:t>
              </a:r>
              <a:endParaRPr lang="zh-CN" sz="128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0" name="Line 20"/>
          <p:cNvSpPr/>
          <p:nvPr/>
        </p:nvSpPr>
        <p:spPr>
          <a:xfrm>
            <a:off x="876300" y="3067050"/>
            <a:ext cx="9525" cy="123825"/>
          </a:xfrm>
          <a:custGeom>
            <a:avLst/>
            <a:gdLst/>
            <a:ahLst/>
            <a:cxnLst/>
            <a:rect l="l" t="t" r="r" b="b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9050">
            <a:solidFill>
              <a:srgbClr val="60758A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790575" y="3143250"/>
            <a:ext cx="85725" cy="95250"/>
          </a:xfrm>
          <a:custGeom>
            <a:avLst/>
            <a:gdLst/>
            <a:ahLst/>
            <a:cxnLst/>
            <a:rect l="l" t="t" r="r" b="b"/>
            <a:pathLst>
              <a:path w="85725" h="95250">
                <a:moveTo>
                  <a:pt x="8572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60758A"/>
          </a:solidFill>
          <a:ln>
            <a:noFill/>
          </a:ln>
        </p:spPr>
      </p:sp>
      <p:grpSp>
        <p:nvGrpSpPr>
          <p:cNvPr id="27" name="mir-step-2"/>
          <p:cNvGrpSpPr/>
          <p:nvPr/>
        </p:nvGrpSpPr>
        <p:grpSpPr>
          <a:xfrm>
            <a:off x="571500" y="3219450"/>
            <a:ext cx="11010900" cy="695325"/>
            <a:chOff x="571500" y="3219450"/>
            <a:chExt cx="11010900" cy="695325"/>
          </a:xfrm>
        </p:grpSpPr>
        <p:sp>
          <p:nvSpPr>
            <p:cNvPr id="22" name="Rectangle 22"/>
            <p:cNvSpPr/>
            <p:nvPr/>
          </p:nvSpPr>
          <p:spPr>
            <a:xfrm>
              <a:off x="571500" y="3219450"/>
              <a:ext cx="11010900" cy="695325"/>
            </a:xfrm>
            <a:prstGeom prst="roundRect">
              <a:avLst>
                <a:gd name="adj" fmla="val 10959"/>
              </a:avLst>
            </a:prstGeom>
            <a:solidFill>
              <a:srgbClr val="FFF3E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1906" y="3329940"/>
              <a:ext cx="153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8823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zh-CN" sz="1800" b="1" dirty="0">
                <a:solidFill>
                  <a:srgbClr val="D8823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76731" y="3310890"/>
              <a:ext cx="208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读取 MIR 并规范化</a:t>
              </a:r>
              <a:endParaRPr lang="zh-CN" sz="18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88892" y="3340418"/>
              <a:ext cx="42478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Body / BasicBlock / Statement / Terminator</a:t>
              </a:r>
              <a:endParaRPr lang="en-US" sz="135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89273" y="3605689"/>
              <a:ext cx="34114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导出自有过程记录，不持久化 rustc 内部对象</a:t>
              </a:r>
              <a:endParaRPr lang="zh-CN" sz="128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Line 28"/>
          <p:cNvSpPr/>
          <p:nvPr/>
        </p:nvSpPr>
        <p:spPr>
          <a:xfrm>
            <a:off x="876300" y="3933825"/>
            <a:ext cx="9525" cy="123825"/>
          </a:xfrm>
          <a:custGeom>
            <a:avLst/>
            <a:gdLst/>
            <a:ahLst/>
            <a:cxnLst/>
            <a:rect l="l" t="t" r="r" b="b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9050">
            <a:solidFill>
              <a:srgbClr val="60758A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790575" y="4010025"/>
            <a:ext cx="85725" cy="95250"/>
          </a:xfrm>
          <a:custGeom>
            <a:avLst/>
            <a:gdLst/>
            <a:ahLst/>
            <a:cxnLst/>
            <a:rect l="l" t="t" r="r" b="b"/>
            <a:pathLst>
              <a:path w="85725" h="95250">
                <a:moveTo>
                  <a:pt x="8572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60758A"/>
          </a:solidFill>
          <a:ln>
            <a:noFill/>
          </a:ln>
        </p:spPr>
      </p:sp>
      <p:grpSp>
        <p:nvGrpSpPr>
          <p:cNvPr id="35" name="mir-step-3"/>
          <p:cNvGrpSpPr/>
          <p:nvPr/>
        </p:nvGrpSpPr>
        <p:grpSpPr>
          <a:xfrm>
            <a:off x="571500" y="4086225"/>
            <a:ext cx="11010900" cy="695325"/>
            <a:chOff x="571500" y="4086225"/>
            <a:chExt cx="11010900" cy="695325"/>
          </a:xfrm>
        </p:grpSpPr>
        <p:sp>
          <p:nvSpPr>
            <p:cNvPr id="30" name="Rectangle 30"/>
            <p:cNvSpPr/>
            <p:nvPr/>
          </p:nvSpPr>
          <p:spPr>
            <a:xfrm>
              <a:off x="571500" y="4086225"/>
              <a:ext cx="11010900" cy="695325"/>
            </a:xfrm>
            <a:prstGeom prst="roundRect">
              <a:avLst>
                <a:gd name="adj" fmla="val 10959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1906" y="4196715"/>
              <a:ext cx="153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76731" y="41776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写回统一图谱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88892" y="4207192"/>
              <a:ext cx="3948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Operation / Place / Value / CallBinding</a:t>
              </a:r>
              <a:endParaRPr lang="en-US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89273" y="447246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8E2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补充控制流、参数绑定和值来源</a:t>
              </a:r>
              <a:endParaRPr lang="zh-CN" sz="1280" dirty="0">
                <a:solidFill>
                  <a:srgbClr val="D8E2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mir-boundary"/>
          <p:cNvGrpSpPr/>
          <p:nvPr/>
        </p:nvGrpSpPr>
        <p:grpSpPr>
          <a:xfrm>
            <a:off x="571500" y="5162550"/>
            <a:ext cx="5276850" cy="952500"/>
            <a:chOff x="571500" y="5162550"/>
            <a:chExt cx="5276850" cy="952500"/>
          </a:xfrm>
        </p:grpSpPr>
        <p:sp>
          <p:nvSpPr>
            <p:cNvPr id="36" name="Rectangle 36"/>
            <p:cNvSpPr/>
            <p:nvPr/>
          </p:nvSpPr>
          <p:spPr>
            <a:xfrm>
              <a:off x="571500" y="5162550"/>
              <a:ext cx="5276850" cy="952500"/>
            </a:xfrm>
            <a:prstGeom prst="roundRect">
              <a:avLst>
                <a:gd name="adj" fmla="val 8000"/>
              </a:avLst>
            </a:prstGeom>
            <a:solidFill>
              <a:srgbClr val="FFF3E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1718" y="5270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8823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版本依赖</a:t>
              </a:r>
              <a:endParaRPr lang="zh-CN" sz="1650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3623" y="5615464"/>
              <a:ext cx="3324074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rustc_private / driver 接口绑定已验证工具链</a:t>
              </a:r>
              <a:br>
                <a:rPr lang="zh-CN" sz="12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2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 adapter + schema_version 隔离上层查询</a:t>
              </a:r>
              <a:endParaRPr lang="zh-CN" sz="1280" dirty="0">
                <a:solidFill>
                  <a:srgbClr val="243B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mir-steal"/>
          <p:cNvGrpSpPr/>
          <p:nvPr/>
        </p:nvGrpSpPr>
        <p:grpSpPr>
          <a:xfrm>
            <a:off x="6305550" y="5162550"/>
            <a:ext cx="5276850" cy="952500"/>
            <a:chOff x="6305550" y="5162550"/>
            <a:chExt cx="5276850" cy="952500"/>
          </a:xfrm>
        </p:grpSpPr>
        <p:sp>
          <p:nvSpPr>
            <p:cNvPr id="40" name="Rectangle 40"/>
            <p:cNvSpPr/>
            <p:nvPr/>
          </p:nvSpPr>
          <p:spPr>
            <a:xfrm>
              <a:off x="6305550" y="5162550"/>
              <a:ext cx="5276850" cy="952500"/>
            </a:xfrm>
            <a:prstGeom prst="roundRect">
              <a:avLst>
                <a:gd name="adj" fmla="val 8000"/>
              </a:avLst>
            </a:prstGeom>
            <a:solidFill>
              <a:srgbClr val="EAF6F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25768" y="5270182"/>
              <a:ext cx="15045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8C9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Steal 读取时机</a:t>
              </a:r>
              <a:endParaRPr lang="zh-CN" sz="1650" b="1" dirty="0">
                <a:solidFill>
                  <a:srgbClr val="008C9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27673" y="5615464"/>
              <a:ext cx="4366116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只读导出，不主动 steal；在早期 MIR 被后续查询消费前读取</a:t>
              </a:r>
              <a:br>
                <a:rPr lang="zh-CN" sz="12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28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先用 optimized_mir，必要时按版本包装早期 query</a:t>
              </a:r>
              <a:endParaRPr lang="zh-CN" sz="1280" dirty="0">
                <a:solidFill>
                  <a:srgbClr val="243B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5" name="mir-caption"/>
          <p:cNvGrpSpPr/>
          <p:nvPr/>
        </p:nvGrpSpPr>
        <p:grpSpPr>
          <a:xfrm>
            <a:off x="566166" y="6211252"/>
            <a:ext cx="6537239" cy="205359"/>
            <a:chOff x="566166" y="6211252"/>
            <a:chExt cx="6537239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566166" y="6211252"/>
              <a:ext cx="65372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 回答“代码是什么”；MIR 补充“程序如何执行、值如何传播”。Unsafe / Fuzzing 共享同一份过程证据。</a:t>
              </a:r>
              <a:endParaRPr lang="zh-CN" sz="10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99110" y="428625"/>
            <a:ext cx="10273024" cy="849440"/>
            <a:chOff x="499110" y="428625"/>
            <a:chExt cx="10273024" cy="849440"/>
          </a:xfrm>
        </p:grpSpPr>
        <p:sp>
          <p:nvSpPr>
            <p:cNvPr id="2" name="TextBox 2"/>
            <p:cNvSpPr txBox="1"/>
            <p:nvPr/>
          </p:nvSpPr>
          <p:spPr>
            <a:xfrm>
              <a:off x="499110" y="428625"/>
              <a:ext cx="93192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统一图谱增量更新：从工具级扫描到跨来源一致快照</a:t>
              </a:r>
              <a:endParaRPr lang="zh-CN" sz="30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543" y="955358"/>
              <a:ext cx="102375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Graphify 类工具通常按文件变更重新提取；本项目要进一步统一更新 RA、rustc、关系和派生分析结果。</a:t>
              </a:r>
              <a:endParaRPr lang="zh-CN" sz="16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614404" y="6328410"/>
            <a:ext cx="5062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 / 17</a:t>
            </a:r>
            <a:endParaRPr lang="zh-CN" sz="1200" dirty="0">
              <a:solidFill>
                <a:srgbClr val="60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9" name="baseline"/>
          <p:cNvGrpSpPr/>
          <p:nvPr/>
        </p:nvGrpSpPr>
        <p:grpSpPr>
          <a:xfrm>
            <a:off x="571500" y="1485900"/>
            <a:ext cx="11010900" cy="1381125"/>
            <a:chOff x="571500" y="1485900"/>
            <a:chExt cx="11010900" cy="1381125"/>
          </a:xfrm>
        </p:grpSpPr>
        <p:sp>
          <p:nvSpPr>
            <p:cNvPr id="6" name="Rectangle 6"/>
            <p:cNvSpPr/>
            <p:nvPr/>
          </p:nvSpPr>
          <p:spPr>
            <a:xfrm>
              <a:off x="571500" y="1485900"/>
              <a:ext cx="11010900" cy="1381125"/>
            </a:xfrm>
            <a:prstGeom prst="roundRect">
              <a:avLst>
                <a:gd name="adj" fmla="val 551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0956" y="1634490"/>
              <a:ext cx="32703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Graphify 类结构图的常见做法</a:t>
              </a:r>
              <a:endParaRPr lang="zh-CN" sz="18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2861" y="2017871"/>
              <a:ext cx="5525596" cy="831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42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文件 hash / manifest 判断变化</a:t>
              </a:r>
              <a:br>
                <a:rPr lang="zh-CN" sz="142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42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变更文件重新做 AST 提取 → 替换或合并节点、边 → 写回 graph.json</a:t>
              </a:r>
              <a:br>
                <a:rPr lang="zh-CN" sz="142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420" dirty="0">
                  <a:solidFill>
                    <a:srgbClr val="243B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优点：实现简单；边界：主要更新文件、符号和普通调用关系</a:t>
              </a:r>
              <a:endParaRPr lang="zh-CN" sz="1420" dirty="0">
                <a:solidFill>
                  <a:srgbClr val="243B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our-flow"/>
          <p:cNvGrpSpPr/>
          <p:nvPr/>
        </p:nvGrpSpPr>
        <p:grpSpPr>
          <a:xfrm>
            <a:off x="571500" y="3143250"/>
            <a:ext cx="11010900" cy="2333625"/>
            <a:chOff x="571500" y="3143250"/>
            <a:chExt cx="11010900" cy="2333625"/>
          </a:xfrm>
        </p:grpSpPr>
        <p:sp>
          <p:nvSpPr>
            <p:cNvPr id="10" name="Rectangle 10"/>
            <p:cNvSpPr/>
            <p:nvPr/>
          </p:nvSpPr>
          <p:spPr>
            <a:xfrm>
              <a:off x="571500" y="3143250"/>
              <a:ext cx="11010900" cy="2333625"/>
            </a:xfrm>
            <a:prstGeom prst="roundRect">
              <a:avLst>
                <a:gd name="adj" fmla="val 3265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0575" y="3302794"/>
              <a:ext cx="22968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统一图谱的增量更新</a:t>
              </a:r>
              <a:endParaRPr lang="zh-CN" sz="188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1911" y="3732371"/>
              <a:ext cx="1208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08C9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zh-CN" sz="1420" b="1" dirty="0">
                <a:solidFill>
                  <a:srgbClr val="008C9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3480" y="3724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变更检测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65273" y="3748564"/>
              <a:ext cx="45661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源码、Cargo、feature、生成文件、工具链 → 计算影响范围</a:t>
              </a:r>
              <a:endParaRPr lang="zh-CN" sz="128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1911" y="4103846"/>
              <a:ext cx="1208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08C9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zh-CN" sz="1420" b="1" dirty="0">
                <a:solidFill>
                  <a:srgbClr val="008C9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73480" y="40957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两路刷新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65273" y="4120039"/>
              <a:ext cx="422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 更新源码语义；rustc 核验缓存并重提取受影响 MIR</a:t>
              </a:r>
              <a:endParaRPr lang="zh-CN" sz="128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1911" y="4475321"/>
              <a:ext cx="1208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08C9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zh-CN" sz="1420" b="1" dirty="0">
                <a:solidFill>
                  <a:srgbClr val="008C9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3480" y="44672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差异入库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65273" y="449151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节点、关系、属性新增／修改／删除；保留来源与快照</a:t>
              </a:r>
              <a:endParaRPr lang="zh-CN" sz="128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1911" y="4846796"/>
              <a:ext cx="1208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08C9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zh-CN" sz="1420" b="1" dirty="0">
                <a:solidFill>
                  <a:srgbClr val="008C9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3480" y="4838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结果失效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65273" y="4862989"/>
              <a:ext cx="48790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沿依赖索引失效查询缓存、Unsafe 结论和 Fuzz 目标，按需重算</a:t>
              </a:r>
              <a:endParaRPr lang="zh-CN" sz="128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update-example"/>
          <p:cNvGrpSpPr/>
          <p:nvPr/>
        </p:nvGrpSpPr>
        <p:grpSpPr>
          <a:xfrm>
            <a:off x="571500" y="5695950"/>
            <a:ext cx="11010900" cy="523875"/>
            <a:chOff x="571500" y="5695950"/>
            <a:chExt cx="11010900" cy="523875"/>
          </a:xfrm>
        </p:grpSpPr>
        <p:sp>
          <p:nvSpPr>
            <p:cNvPr id="25" name="Rectangle 25"/>
            <p:cNvSpPr/>
            <p:nvPr/>
          </p:nvSpPr>
          <p:spPr>
            <a:xfrm>
              <a:off x="571500" y="5695950"/>
              <a:ext cx="11010900" cy="523875"/>
            </a:xfrm>
            <a:prstGeom prst="roundRect">
              <a:avLst>
                <a:gd name="adj" fmla="val 14545"/>
              </a:avLst>
            </a:prstGeom>
            <a:solidFill>
              <a:srgbClr val="FFF3E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3242" y="5864542"/>
              <a:ext cx="9877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8823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案例修改：a 的类型／指针转换改变 → RA 记录 + rustc MIR 记录 + Call/Value 关系 + 相关 Unsafe/Fuzz 结果一起更新。</a:t>
              </a:r>
              <a:endParaRPr lang="zh-CN" sz="1350" b="1" dirty="0">
                <a:solidFill>
                  <a:srgbClr val="D8823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8160" y="428625"/>
            <a:ext cx="6312408" cy="770572"/>
            <a:chOff x="518160" y="428625"/>
            <a:chExt cx="6312408" cy="770572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428625"/>
              <a:ext cx="603377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图谱</a:t>
              </a:r>
              <a:r>
                <a:rPr lang="en-US" alt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Schema：</a:t>
              </a:r>
              <a:r>
                <a:rPr lang="zh-CN" alt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节点与关系如何组织</a:t>
              </a:r>
              <a:endParaRPr lang="zh-CN" altLang="en-US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4068" y="945832"/>
              <a:ext cx="628650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主体图谱覆盖工程、定义与使用关系；分析事实按下游需求逐步扩展</a:t>
              </a:r>
              <a:endParaRPr lang="zh-CN" alt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layered-schema"/>
          <p:cNvGrpSpPr/>
          <p:nvPr/>
        </p:nvGrpSpPr>
        <p:grpSpPr>
          <a:xfrm>
            <a:off x="571500" y="1581150"/>
            <a:ext cx="11010900" cy="3952875"/>
            <a:chOff x="571500" y="1581150"/>
            <a:chExt cx="11010900" cy="3952875"/>
          </a:xfrm>
        </p:grpSpPr>
        <p:sp>
          <p:nvSpPr>
            <p:cNvPr id="5" name="Rectangle 5"/>
            <p:cNvSpPr/>
            <p:nvPr/>
          </p:nvSpPr>
          <p:spPr>
            <a:xfrm>
              <a:off x="571500" y="1581150"/>
              <a:ext cx="11010900" cy="819150"/>
            </a:xfrm>
            <a:prstGeom prst="roundRect">
              <a:avLst>
                <a:gd name="adj" fmla="val 93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0382" y="1687830"/>
              <a:ext cx="386080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L0 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46832" y="1687830"/>
              <a:ext cx="467285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Workspace · Crate · Module · File</a:t>
              </a:r>
              <a:endParaRPr lang="en-US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49118" y="2079308"/>
              <a:ext cx="2361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Contains / DependsOn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1447800" y="2447925"/>
              <a:ext cx="1" cy="142875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2676525"/>
              <a:ext cx="11010900" cy="819150"/>
            </a:xfrm>
            <a:prstGeom prst="roundRect">
              <a:avLst>
                <a:gd name="adj" fmla="val 9302"/>
              </a:avLst>
            </a:prstGeom>
            <a:solidFill>
              <a:srgbClr val="EAF6F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0382" y="2783205"/>
              <a:ext cx="386080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L1 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46832" y="2783205"/>
              <a:ext cx="54061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Function · Struct / Enum · Trait · Impl</a:t>
              </a:r>
              <a:endParaRPr lang="en-US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49118" y="3174682"/>
              <a:ext cx="36576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Contains / Implements / UsesType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1447800" y="3543300"/>
              <a:ext cx="1" cy="142875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3771900"/>
              <a:ext cx="11010900" cy="819150"/>
            </a:xfrm>
            <a:prstGeom prst="roundRect">
              <a:avLst>
                <a:gd name="adj" fmla="val 9302"/>
              </a:avLst>
            </a:prstGeom>
            <a:solidFill>
              <a:srgbClr val="EAF6F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0382" y="3878580"/>
              <a:ext cx="386080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L2 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46832" y="3878580"/>
              <a:ext cx="53495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CallSite · Reference（可先作关系记录）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49118" y="4270058"/>
              <a:ext cx="57925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Function → CallSite → Target；References → Definition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1447800" y="4638675"/>
              <a:ext cx="1" cy="142875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custDash>
                <a:ds d="200000" sp="150000"/>
              </a:custDash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4867275"/>
              <a:ext cx="11010900" cy="666750"/>
            </a:xfrm>
            <a:prstGeom prst="roundRect">
              <a:avLst>
                <a:gd name="adj" fmla="val 11429"/>
              </a:avLst>
            </a:prstGeom>
            <a:solidFill>
              <a:srgbClr val="FFF3E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0382" y="4954905"/>
              <a:ext cx="386080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L3 </a:t>
              </a:r>
              <a:endParaRPr lang="zh-CN" sz="21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46832" y="4954905"/>
              <a:ext cx="49217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BasicBlock · Operation · Diagnostic</a:t>
              </a:r>
              <a:endParaRPr lang="en-US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49118" y="5270182"/>
              <a:ext cx="322770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ControlFlow / DataFlow；按需扩展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evidence"/>
          <p:cNvGrpSpPr/>
          <p:nvPr/>
        </p:nvGrpSpPr>
        <p:grpSpPr>
          <a:xfrm>
            <a:off x="582168" y="5832158"/>
            <a:ext cx="8382000" cy="253365"/>
            <a:chOff x="582168" y="5832158"/>
            <a:chExt cx="8382000" cy="253365"/>
          </a:xfrm>
        </p:grpSpPr>
        <p:sp>
          <p:nvSpPr>
            <p:cNvPr id="25" name="TextBox 25"/>
            <p:cNvSpPr txBox="1"/>
            <p:nvPr/>
          </p:nvSpPr>
          <p:spPr>
            <a:xfrm>
              <a:off x="582168" y="5832158"/>
              <a:ext cx="838200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源码位置、分析来源、解析状态等信息作为节点或关系的属性保存，用于结果追溯与解释。</a:t>
              </a:r>
              <a:endParaRPr lang="zh-CN" altLang="en-US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073130" y="6328410"/>
            <a:ext cx="55308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 / 11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502920" y="428625"/>
            <a:ext cx="3642360" cy="780098"/>
            <a:chOff x="502920" y="428625"/>
            <a:chExt cx="3642360" cy="780098"/>
          </a:xfrm>
        </p:grpSpPr>
        <p:sp>
          <p:nvSpPr>
            <p:cNvPr id="2" name="TextBox 2"/>
            <p:cNvSpPr txBox="1"/>
            <p:nvPr/>
          </p:nvSpPr>
          <p:spPr>
            <a:xfrm>
              <a:off x="502920" y="428625"/>
              <a:ext cx="364236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预计的</a:t>
              </a:r>
              <a:r>
                <a:rPr lang="en-US" altLang="zh-CN" sz="30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input→output</a:t>
              </a:r>
              <a:endParaRPr lang="en-US" altLang="zh-CN" sz="30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5686" y="955358"/>
              <a:ext cx="12700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65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126085" y="6328410"/>
            <a:ext cx="5062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0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 / 17</a:t>
            </a:r>
            <a:endParaRPr lang="zh-CN" sz="1200" dirty="0">
              <a:solidFill>
                <a:srgbClr val="60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9" name="demo-input"/>
          <p:cNvGrpSpPr/>
          <p:nvPr/>
        </p:nvGrpSpPr>
        <p:grpSpPr>
          <a:xfrm>
            <a:off x="571500" y="1476375"/>
            <a:ext cx="5276850" cy="4257675"/>
            <a:chOff x="571500" y="1476375"/>
            <a:chExt cx="5276850" cy="4257675"/>
          </a:xfrm>
        </p:grpSpPr>
        <p:sp>
          <p:nvSpPr>
            <p:cNvPr id="6" name="Rectangle 6"/>
            <p:cNvSpPr/>
            <p:nvPr/>
          </p:nvSpPr>
          <p:spPr>
            <a:xfrm>
              <a:off x="571500" y="1476375"/>
              <a:ext cx="5276850" cy="4257675"/>
            </a:xfrm>
            <a:prstGeom prst="roundRect">
              <a:avLst>
                <a:gd name="adj" fmla="val 2685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9813" y="1657826"/>
              <a:ext cx="255672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008C9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Input · Rust Source</a:t>
              </a:r>
              <a:endParaRPr lang="en-US" sz="2020" b="1" dirty="0">
                <a:solidFill>
                  <a:srgbClr val="008C9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761" y="2036921"/>
              <a:ext cx="3684397" cy="3212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use core::slice::from_raw_parts_mut;</a:t>
              </a:r>
              <a:b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fn xor_si512_inplace(</a:t>
              </a:r>
              <a:b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 a: &amp;mut [u8],</a:t>
              </a:r>
              <a:b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 b: &amp;[u32; Chacha20::STATE_LEN],</a:t>
              </a:r>
              <a:b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) {</a:t>
              </a:r>
              <a:br>
                <a:rPr lang="zh-CN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420" dirty="0">
                  <a:solidFill>
                    <a:srgbClr val="D8823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 unsafe {</a:t>
              </a:r>
              <a:br>
                <a:rPr lang="en-US" sz="1420" dirty="0">
                  <a:solidFill>
                    <a:srgbClr val="D8823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420" dirty="0">
                  <a:solidFill>
                    <a:srgbClr val="D8823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   let d1 = from_raw_parts_mut(</a:t>
              </a:r>
              <a:br>
                <a:rPr lang="en-US" sz="1420" dirty="0">
                  <a:solidFill>
                    <a:srgbClr val="D8823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420" dirty="0">
                  <a:solidFill>
                    <a:srgbClr val="D8823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     a.as_mut_ptr() as *mut u32,</a:t>
              </a:r>
              <a:br>
                <a:rPr lang="en-US" sz="1420" dirty="0">
                  <a:solidFill>
                    <a:srgbClr val="D8823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     Chacha20::STATE_LEN,</a:t>
              </a:r>
              <a:b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   );</a:t>
              </a:r>
              <a:br>
                <a:rPr lang="zh-CN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   for i in 0..Chacha20::STATE_LEN {</a:t>
              </a:r>
              <a:b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     d1[i] ^= b[i];</a:t>
              </a:r>
              <a:br>
                <a:rPr lang="en-US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   }</a:t>
              </a:r>
              <a:br>
                <a:rPr lang="zh-CN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 }</a:t>
              </a:r>
              <a:br>
                <a:rPr lang="zh-CN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142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42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" name="demo-arrow"/>
          <p:cNvGrpSpPr/>
          <p:nvPr/>
        </p:nvGrpSpPr>
        <p:grpSpPr>
          <a:xfrm>
            <a:off x="5943600" y="3473672"/>
            <a:ext cx="304800" cy="82106"/>
            <a:chOff x="5943600" y="3473672"/>
            <a:chExt cx="304800" cy="82106"/>
          </a:xfrm>
        </p:grpSpPr>
        <p:sp>
          <p:nvSpPr>
            <p:cNvPr id="10" name="Line 10"/>
            <p:cNvSpPr/>
            <p:nvPr/>
          </p:nvSpPr>
          <p:spPr>
            <a:xfrm>
              <a:off x="5943600" y="351472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rgbClr val="D88230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6173152" y="3473672"/>
              <a:ext cx="75247" cy="82106"/>
            </a:xfrm>
            <a:custGeom>
              <a:avLst/>
              <a:gdLst/>
              <a:ahLst/>
              <a:cxnLst/>
              <a:rect l="l" t="t" r="r" b="b"/>
              <a:pathLst>
                <a:path w="75247" h="82106">
                  <a:moveTo>
                    <a:pt x="75247" y="41053"/>
                  </a:moveTo>
                  <a:lnTo>
                    <a:pt x="0" y="82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8230"/>
            </a:solidFill>
            <a:ln>
              <a:noFill/>
            </a:ln>
          </p:spPr>
        </p:sp>
      </p:grpSp>
      <p:grpSp>
        <p:nvGrpSpPr>
          <p:cNvPr id="19" name="demo-output"/>
          <p:cNvGrpSpPr/>
          <p:nvPr/>
        </p:nvGrpSpPr>
        <p:grpSpPr>
          <a:xfrm>
            <a:off x="6381750" y="1476375"/>
            <a:ext cx="5200650" cy="4257675"/>
            <a:chOff x="6381750" y="1476375"/>
            <a:chExt cx="5200650" cy="4257675"/>
          </a:xfrm>
        </p:grpSpPr>
        <p:sp>
          <p:nvSpPr>
            <p:cNvPr id="13" name="Rectangle 13"/>
            <p:cNvSpPr/>
            <p:nvPr/>
          </p:nvSpPr>
          <p:spPr>
            <a:xfrm>
              <a:off x="6381750" y="1476375"/>
              <a:ext cx="5200650" cy="4257675"/>
            </a:xfrm>
            <a:prstGeom prst="roundRect">
              <a:avLst>
                <a:gd name="adj" fmla="val 2685"/>
              </a:avLst>
            </a:prstGeom>
            <a:solidFill>
              <a:srgbClr val="FFF3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00063" y="1657826"/>
              <a:ext cx="314682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D8823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Output · Graph Records</a:t>
              </a:r>
              <a:endParaRPr lang="en-US" sz="2020" b="1" dirty="0">
                <a:solidFill>
                  <a:srgbClr val="D8823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74155" y="2028825"/>
              <a:ext cx="6891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D8823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Nodes:</a:t>
              </a:r>
              <a:endParaRPr lang="en-US" sz="1500" b="1" dirty="0">
                <a:solidFill>
                  <a:srgbClr val="D882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74917" y="2311718"/>
              <a:ext cx="3125534" cy="13594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F: Function(xor_si512_inplace)</a:t>
              </a:r>
              <a:b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P: Parameter(a, &amp;mut [u8])</a:t>
              </a:r>
              <a:b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X: Expression(cast, *mut u32)</a:t>
              </a:r>
              <a:b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C: CallSite(from_raw_parts_mut)</a:t>
              </a:r>
              <a:b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T: Function(from_raw_parts_mut)</a:t>
              </a:r>
              <a:b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O: Operation(cast, body=B, loc=L)</a:t>
              </a:r>
              <a:endParaRPr lang="en-US" sz="135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74155" y="3838575"/>
              <a:ext cx="6891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D8823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Edges:</a:t>
              </a:r>
              <a:endParaRPr lang="en-US" sz="1500" b="1" dirty="0">
                <a:solidFill>
                  <a:srgbClr val="D882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74917" y="4130992"/>
              <a:ext cx="3125534" cy="1254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HasParameter(F → P)</a:t>
              </a:r>
              <a:b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Contains(F → X), Contains(F → C)</a:t>
              </a:r>
              <a:b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Uses(X → P), ArgumentAt(X → C, 0)</a:t>
              </a:r>
              <a:b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ResolvesTo(C → T)</a:t>
              </a:r>
              <a:b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en-US" sz="1350" dirty="0">
                  <a:solidFill>
                    <a:srgbClr val="243B5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CorrespondsTo(X → O)</a:t>
              </a:r>
              <a:endParaRPr lang="en-US" sz="1350" dirty="0">
                <a:solidFill>
                  <a:srgbClr val="243B5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1" name="page-caption"/>
          <p:cNvGrpSpPr/>
          <p:nvPr/>
        </p:nvGrpSpPr>
        <p:grpSpPr>
          <a:xfrm>
            <a:off x="563499" y="5925979"/>
            <a:ext cx="8417934" cy="308039"/>
            <a:chOff x="563499" y="5925979"/>
            <a:chExt cx="8417934" cy="308039"/>
          </a:xfrm>
        </p:grpSpPr>
        <p:sp>
          <p:nvSpPr>
            <p:cNvPr id="20" name="TextBox 20"/>
            <p:cNvSpPr txBox="1"/>
            <p:nvPr/>
          </p:nvSpPr>
          <p:spPr>
            <a:xfrm>
              <a:off x="563499" y="5925979"/>
              <a:ext cx="841793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60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局部查询：第 0 个实参是什么表达式、引用哪个参数？ → 指针转换表达式，引用参数 a。</a:t>
              </a:r>
              <a:endParaRPr lang="zh-CN" sz="1580" dirty="0">
                <a:solidFill>
                  <a:srgbClr val="60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18160" y="428625"/>
            <a:ext cx="7352030" cy="886142"/>
            <a:chOff x="518160" y="428625"/>
            <a:chExt cx="7352030" cy="886142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428625"/>
              <a:ext cx="735203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MCP：</a:t>
              </a:r>
              <a:r>
                <a:rPr lang="zh-CN" alt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将图谱查询与分析能力暴露给 </a:t>
              </a:r>
              <a:r>
                <a:rPr lang="en-US" alt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</a:t>
              </a:r>
              <a:endParaRPr lang="en-US" alt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4068" y="945832"/>
              <a:ext cx="321183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altLang="en-US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接口</a:t>
              </a:r>
              <a:r>
                <a:rPr lang="en-US" alt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---&gt;MCP ---&gt;Agent</a:t>
              </a:r>
              <a:endParaRPr altLang="en-US" sz="24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mcp-service-diagram"/>
          <p:cNvGrpSpPr/>
          <p:nvPr/>
        </p:nvGrpSpPr>
        <p:grpSpPr>
          <a:xfrm>
            <a:off x="571500" y="1647825"/>
            <a:ext cx="10953750" cy="3676650"/>
            <a:chOff x="571500" y="1647825"/>
            <a:chExt cx="10953750" cy="3676650"/>
          </a:xfrm>
        </p:grpSpPr>
        <p:sp>
          <p:nvSpPr>
            <p:cNvPr id="5" name="Rectangle 5"/>
            <p:cNvSpPr/>
            <p:nvPr/>
          </p:nvSpPr>
          <p:spPr>
            <a:xfrm>
              <a:off x="571500" y="2228850"/>
              <a:ext cx="3829050" cy="2552700"/>
            </a:xfrm>
            <a:prstGeom prst="roundRect">
              <a:avLst>
                <a:gd name="adj" fmla="val 44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6958" y="2436495"/>
              <a:ext cx="19197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MCP Server</a:t>
              </a:r>
              <a:endParaRPr lang="en-US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0768" y="289845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统一图谱查询服务</a:t>
              </a:r>
              <a:endParaRPr lang="zh-CN" sz="16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08482" y="3373755"/>
              <a:ext cx="15620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get_symbol</a:t>
              </a:r>
              <a:endParaRPr lang="en-US" sz="21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8482" y="3792855"/>
              <a:ext cx="19719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get_type_info</a:t>
              </a:r>
              <a:endParaRPr lang="en-US" sz="21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8482" y="4211955"/>
              <a:ext cx="34844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get_callers / get_callees</a:t>
              </a:r>
              <a:endParaRPr lang="en-US" sz="21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 flipV="1">
              <a:off x="4533900" y="2457450"/>
              <a:ext cx="1085850" cy="466725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4533900" y="4019550"/>
              <a:ext cx="1085850" cy="457200"/>
            </a:xfrm>
            <a:prstGeom prst="line">
              <a:avLst/>
            </a:prstGeom>
            <a:noFill/>
            <a:ln w="19050">
              <a:solidFill>
                <a:srgbClr val="60758A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819775" y="1647825"/>
              <a:ext cx="5705475" cy="1685925"/>
            </a:xfrm>
            <a:prstGeom prst="roundRect">
              <a:avLst>
                <a:gd name="adj" fmla="val 6780"/>
              </a:avLst>
            </a:prstGeom>
            <a:solidFill>
              <a:srgbClr val="FFF3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55995" y="1833562"/>
              <a:ext cx="20631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Unsafe Agent</a:t>
              </a:r>
              <a:endParaRPr lang="en-US" sz="22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56757" y="2278380"/>
              <a:ext cx="40215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危险操作定位 · 路径与证据复核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59043" y="2755582"/>
              <a:ext cx="46702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find_unsafe_operations / trace_data_flow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819775" y="3638550"/>
              <a:ext cx="5705475" cy="1685925"/>
            </a:xfrm>
            <a:prstGeom prst="roundRect">
              <a:avLst>
                <a:gd name="adj" fmla="val 6780"/>
              </a:avLst>
            </a:prstGeom>
            <a:solidFill>
              <a:srgbClr val="EAF6F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55995" y="3824288"/>
              <a:ext cx="21577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Fuzzing Agent</a:t>
              </a:r>
              <a:endParaRPr lang="en-US" sz="22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56757" y="4269105"/>
              <a:ext cx="31734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候选入口 · 输入构造信息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59043" y="4746308"/>
              <a:ext cx="49145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find_fuzz_targets / get_input_requirements</a:t>
              </a:r>
              <a:endParaRPr lang="en-US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contract"/>
          <p:cNvGrpSpPr/>
          <p:nvPr/>
        </p:nvGrpSpPr>
        <p:grpSpPr>
          <a:xfrm>
            <a:off x="563118" y="5755958"/>
            <a:ext cx="4819650" cy="253365"/>
            <a:chOff x="563118" y="5755958"/>
            <a:chExt cx="4819650" cy="253365"/>
          </a:xfrm>
        </p:grpSpPr>
        <p:sp>
          <p:nvSpPr>
            <p:cNvPr id="22" name="TextBox 22"/>
            <p:cNvSpPr txBox="1"/>
            <p:nvPr/>
          </p:nvSpPr>
          <p:spPr>
            <a:xfrm>
              <a:off x="563118" y="5755958"/>
              <a:ext cx="481965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分析结果应至少保留源码位置、分析来源和解析状态</a:t>
              </a:r>
              <a:endParaRPr lang="zh-CN" altLang="en-US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073130" y="6328410"/>
            <a:ext cx="553085" cy="23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 / 11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8160" y="428625"/>
            <a:ext cx="1524000" cy="461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核心能力</a:t>
            </a:r>
            <a:endParaRPr lang="zh-CN" sz="30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build"/>
          <p:cNvGrpSpPr/>
          <p:nvPr/>
        </p:nvGrpSpPr>
        <p:grpSpPr>
          <a:xfrm>
            <a:off x="533400" y="1859280"/>
            <a:ext cx="3505200" cy="3333750"/>
            <a:chOff x="533400" y="1619250"/>
            <a:chExt cx="3505200" cy="3333750"/>
          </a:xfrm>
        </p:grpSpPr>
        <p:sp>
          <p:nvSpPr>
            <p:cNvPr id="5" name="Rectangle 5"/>
            <p:cNvSpPr/>
            <p:nvPr/>
          </p:nvSpPr>
          <p:spPr>
            <a:xfrm>
              <a:off x="533400" y="1619250"/>
              <a:ext cx="3505200" cy="3333750"/>
            </a:xfrm>
            <a:prstGeom prst="roundRect">
              <a:avLst>
                <a:gd name="adj" fmla="val 342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3618" y="1850708"/>
              <a:ext cx="20503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图谱构建与更新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3618" y="2326958"/>
              <a:ext cx="16577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加载 Cargo 工程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3618" y="2691447"/>
              <a:ext cx="1711960" cy="507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 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构建主体图谱</a:t>
              </a:r>
              <a:endParaRPr lang="zh-CN" altLang="en-US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en-US" alt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rustc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补充编译事实</a:t>
              </a:r>
              <a:endParaRPr lang="zh-CN" altLang="en-US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3618" y="3344228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保存实体、关系与源码位置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872" y="3813175"/>
              <a:ext cx="83820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增量更新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query"/>
          <p:cNvGrpSpPr/>
          <p:nvPr/>
        </p:nvGrpSpPr>
        <p:grpSpPr>
          <a:xfrm>
            <a:off x="4343400" y="1859280"/>
            <a:ext cx="3505200" cy="3333750"/>
            <a:chOff x="4343400" y="1619250"/>
            <a:chExt cx="3505200" cy="3333750"/>
          </a:xfrm>
        </p:grpSpPr>
        <p:sp>
          <p:nvSpPr>
            <p:cNvPr id="15" name="Rectangle 15"/>
            <p:cNvSpPr/>
            <p:nvPr/>
          </p:nvSpPr>
          <p:spPr>
            <a:xfrm>
              <a:off x="4343400" y="1619250"/>
              <a:ext cx="3505200" cy="3333750"/>
            </a:xfrm>
            <a:prstGeom prst="roundRect">
              <a:avLst>
                <a:gd name="adj" fmla="val 342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63618" y="1850708"/>
              <a:ext cx="20503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图谱查询与分析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63618" y="2374582"/>
              <a:ext cx="22178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工程结构 · API · 类型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3618" y="2784158"/>
              <a:ext cx="165354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调用关系</a:t>
              </a:r>
              <a:r>
                <a:rPr lang="en-US" alt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sz="1650" dirty="0">
                  <a:solidFill>
                    <a:schemeClr val="dk1"/>
                  </a:solidFill>
                  <a:sym typeface="+mn-ea"/>
                </a:rPr>
                <a:t>· </a:t>
              </a:r>
              <a:r>
                <a:rPr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控制流</a:t>
              </a:r>
              <a:endParaRPr altLang="en-US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3618" y="3193732"/>
              <a:ext cx="192151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调用路径 · 依赖传播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3618" y="3879532"/>
              <a:ext cx="24254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服务 Unsafe / Fuzzing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3618" y="42605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提供代码上下文与分析依据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entry"/>
          <p:cNvGrpSpPr/>
          <p:nvPr/>
        </p:nvGrpSpPr>
        <p:grpSpPr>
          <a:xfrm>
            <a:off x="8153400" y="1859280"/>
            <a:ext cx="3505200" cy="3333750"/>
            <a:chOff x="8153400" y="1619250"/>
            <a:chExt cx="3505200" cy="3333750"/>
          </a:xfrm>
        </p:grpSpPr>
        <p:sp>
          <p:nvSpPr>
            <p:cNvPr id="24" name="Rectangle 24"/>
            <p:cNvSpPr/>
            <p:nvPr/>
          </p:nvSpPr>
          <p:spPr>
            <a:xfrm>
              <a:off x="8153400" y="1619250"/>
              <a:ext cx="3505200" cy="3333750"/>
            </a:xfrm>
            <a:prstGeom prst="roundRect">
              <a:avLst>
                <a:gd name="adj" fmla="val 3429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73618" y="1850708"/>
              <a:ext cx="28404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使用入口与 Agent 接入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1332" y="2297430"/>
              <a:ext cx="4604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CLI</a:t>
              </a:r>
              <a:endParaRPr lang="en-US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3618" y="2669858"/>
              <a:ext cx="27821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初始化 · 构建 · 更新 · 查询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1332" y="3097530"/>
              <a:ext cx="167979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MCP Server</a:t>
              </a:r>
              <a:endParaRPr lang="en-US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3618" y="3469958"/>
              <a:ext cx="2546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封装 Agent 可调用的工具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1332" y="3897630"/>
              <a:ext cx="6217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</a:t>
              </a:r>
              <a:endParaRPr lang="en-US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3618" y="4270058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指导何时查、怎样查与使用结果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closing"/>
          <p:cNvGrpSpPr/>
          <p:nvPr/>
        </p:nvGrpSpPr>
        <p:grpSpPr>
          <a:xfrm>
            <a:off x="517843" y="1310005"/>
            <a:ext cx="8659495" cy="322580"/>
            <a:chOff x="1766253" y="5497830"/>
            <a:chExt cx="8659495" cy="322580"/>
          </a:xfrm>
        </p:grpSpPr>
        <p:sp>
          <p:nvSpPr>
            <p:cNvPr id="33" name="TextBox 33"/>
            <p:cNvSpPr txBox="1"/>
            <p:nvPr/>
          </p:nvSpPr>
          <p:spPr>
            <a:xfrm>
              <a:off x="1766253" y="5497830"/>
              <a:ext cx="8659495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2100" b="1" dirty="0">
                  <a:solidFill>
                    <a:srgbClr val="72CDD1"/>
                  </a:solidFill>
                  <a:latin typeface="+mn-lt"/>
                  <a:ea typeface="+mn-ea"/>
                  <a:cs typeface="+mn-cs"/>
                </a:rPr>
                <a:t>图谱构建与持续更新 → 语义查询与专项分析 → 开发者使用与 </a:t>
              </a:r>
              <a:r>
                <a:rPr lang="en-US" altLang="zh-CN" sz="2100" b="1" dirty="0">
                  <a:solidFill>
                    <a:srgbClr val="72CDD1"/>
                  </a:solidFill>
                  <a:latin typeface="+mn-lt"/>
                  <a:ea typeface="+mn-ea"/>
                  <a:cs typeface="+mn-cs"/>
                </a:rPr>
                <a:t>Agent </a:t>
              </a:r>
              <a:r>
                <a:rPr lang="zh-CN" altLang="en-US" sz="2100" b="1" dirty="0">
                  <a:solidFill>
                    <a:srgbClr val="72CDD1"/>
                  </a:solidFill>
                  <a:latin typeface="+mn-lt"/>
                  <a:ea typeface="+mn-ea"/>
                  <a:cs typeface="+mn-cs"/>
                </a:rPr>
                <a:t>接入</a:t>
              </a:r>
              <a:endParaRPr lang="zh-CN" altLang="en-US" sz="2100" b="1" dirty="0">
                <a:solidFill>
                  <a:srgbClr val="72CDD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95249" y="5622290"/>
            <a:ext cx="11031347" cy="940816"/>
            <a:chOff x="595249" y="5622290"/>
            <a:chExt cx="11031347" cy="940816"/>
          </a:xfrm>
        </p:grpSpPr>
        <p:sp>
          <p:nvSpPr>
            <p:cNvPr id="35" name="TextBox 35"/>
            <p:cNvSpPr txBox="1"/>
            <p:nvPr/>
          </p:nvSpPr>
          <p:spPr>
            <a:xfrm>
              <a:off x="595249" y="5622290"/>
              <a:ext cx="169926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不建设 Web / 图形界面；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73232" y="63284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11 / 11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2.5,&quot;left&quot;:45,&quot;top&quot;:286.5,&quot;width&quot;:867}"/>
</p:tagLst>
</file>

<file path=ppt/tags/tag2.xml><?xml version="1.0" encoding="utf-8"?>
<p:tagLst xmlns:p="http://schemas.openxmlformats.org/presentationml/2006/main">
  <p:tag name="KSO_WM_DIAGRAM_VIRTUALLY_FRAME" val="{&quot;height&quot;:142.5,&quot;left&quot;:45,&quot;top&quot;:286.5,&quot;width&quot;:867}"/>
</p:tagLst>
</file>

<file path=ppt/tags/tag3.xml><?xml version="1.0" encoding="utf-8"?>
<p:tagLst xmlns:p="http://schemas.openxmlformats.org/presentationml/2006/main">
  <p:tag name="KSO_WM_DIAGRAM_VIRTUALLY_FRAME" val="{&quot;height&quot;:142.5,&quot;left&quot;:45,&quot;top&quot;:286.5,&quot;width&quot;:867}"/>
</p:tagLst>
</file>

<file path=ppt/tags/tag4.xml><?xml version="1.0" encoding="utf-8"?>
<p:tagLst xmlns:p="http://schemas.openxmlformats.org/presentationml/2006/main">
  <p:tag name="KSO_WM_DIAGRAM_VIRTUALLY_FRAME" val="{&quot;height&quot;:142.5,&quot;left&quot;:45,&quot;top&quot;:286.5,&quot;width&quot;:867}"/>
</p:tagLst>
</file>

<file path=ppt/tags/tag5.xml><?xml version="1.0" encoding="utf-8"?>
<p:tagLst xmlns:p="http://schemas.openxmlformats.org/presentationml/2006/main">
  <p:tag name="KSO_WM_DIAGRAM_VIRTUALLY_FRAME" val="{&quot;height&quot;:142.5,&quot;left&quot;:45,&quot;top&quot;:286.5,&quot;width&quot;:867}"/>
</p:tagLst>
</file>

<file path=ppt/tags/tag6.xml><?xml version="1.0" encoding="utf-8"?>
<p:tagLst xmlns:p="http://schemas.openxmlformats.org/presentationml/2006/main">
  <p:tag name="KSO_WM_DIAGRAM_VIRTUALLY_FRAME" val="{&quot;height&quot;:142.5,&quot;left&quot;:45,&quot;top&quot;:286.5,&quot;width&quot;:867}"/>
</p:tagLst>
</file>

<file path=ppt/theme/theme1.xml><?xml version="1.0" encoding="utf-8"?>
<a:theme xmlns:a="http://schemas.openxmlformats.org/drawingml/2006/main" name="rust_semantic_foundation">
  <a:themeElements>
    <a:clrScheme name="rust_semantic_foundation">
      <a:dk1>
        <a:srgbClr val="243B53"/>
      </a:dk1>
      <a:lt1>
        <a:srgbClr val="FFFFFF"/>
      </a:lt1>
      <a:dk2>
        <a:srgbClr val="1F497D"/>
      </a:dk2>
      <a:lt2>
        <a:srgbClr val="F2F6FA"/>
      </a:lt2>
      <a:accent1>
        <a:srgbClr val="17324D"/>
      </a:accent1>
      <a:accent2>
        <a:srgbClr val="008C95"/>
      </a:accent2>
      <a:accent3>
        <a:srgbClr val="D88230"/>
      </a:accent3>
      <a:accent4>
        <a:srgbClr val="17324D"/>
      </a:accent4>
      <a:accent5>
        <a:srgbClr val="60758A"/>
      </a:accent5>
      <a:accent6>
        <a:srgbClr val="D8E2EB"/>
      </a:accent6>
      <a:hlink>
        <a:srgbClr val="008C95"/>
      </a:hlink>
      <a:folHlink>
        <a:srgbClr val="D88230"/>
      </a:folHlink>
    </a:clrScheme>
    <a:fontScheme name="rust_semantic_founda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st_semantic_found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ust_semantic_foundation">
  <a:themeElements>
    <a:clrScheme name="rust_semantic_foundation">
      <a:dk1>
        <a:srgbClr val="243B53"/>
      </a:dk1>
      <a:lt1>
        <a:srgbClr val="FFFFFF"/>
      </a:lt1>
      <a:dk2>
        <a:srgbClr val="1F497D"/>
      </a:dk2>
      <a:lt2>
        <a:srgbClr val="F2F6FA"/>
      </a:lt2>
      <a:accent1>
        <a:srgbClr val="17324D"/>
      </a:accent1>
      <a:accent2>
        <a:srgbClr val="008C95"/>
      </a:accent2>
      <a:accent3>
        <a:srgbClr val="D88230"/>
      </a:accent3>
      <a:accent4>
        <a:srgbClr val="17324D"/>
      </a:accent4>
      <a:accent5>
        <a:srgbClr val="60758A"/>
      </a:accent5>
      <a:accent6>
        <a:srgbClr val="D8E2EB"/>
      </a:accent6>
      <a:hlink>
        <a:srgbClr val="008C95"/>
      </a:hlink>
      <a:folHlink>
        <a:srgbClr val="D88230"/>
      </a:folHlink>
    </a:clrScheme>
    <a:fontScheme name="rust_semantic_founda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st_semantic_found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5618</Words>
  <Application>WPS 演示</Application>
  <PresentationFormat>On-screen Show (16:9)</PresentationFormat>
  <Paragraphs>556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Arial Unicode MS</vt:lpstr>
      <vt:lpstr>Consolas</vt:lpstr>
      <vt:lpstr>rust_semantic_foundation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和奥妹跳舞的男孩</cp:lastModifiedBy>
  <cp:revision>6</cp:revision>
  <dcterms:created xsi:type="dcterms:W3CDTF">2026-09-23T12:30:00Z</dcterms:created>
  <dcterms:modified xsi:type="dcterms:W3CDTF">2026-09-29T05:54:36Z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6404E54F4DB44B14AF9424372BB11DC8_12</vt:lpwstr>
  </property>
</Properties>
</file>