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67" r:id="rId5"/>
    <p:sldId id="268" r:id="rId6"/>
    <p:sldId id="269" r:id="rId7"/>
    <p:sldId id="260" r:id="rId8"/>
    <p:sldId id="261" r:id="rId9"/>
    <p:sldId id="262" r:id="rId10"/>
    <p:sldId id="263" r:id="rId11"/>
    <p:sldId id="264" r:id="rId12"/>
    <p:sldId id="265" r:id="rId13"/>
    <p:sldId id="272" r:id="rId14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4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24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CN"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这次汇报主要介绍我对 Rust 智能解析底座的理解，以及调研后形成的技术方案。核心想法是把工程结构、源码语义和编译信息关联成统一表示，再通过接口提供给下游 Agent。Cargo 提供工程上下文，rust-analyzer 提供定义、类型与引用等查询能力，rustc 提供编译诊断和进一步分析所需的表示。底座的价值不仅在于能画出关系图，还在于每项结果都可以回到源码，并说明分析依据和不确定性。下面依次介绍项目定位、现有工具边界和实现构想。</a:t>
            </a:r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项目的核心目标是构建一个 Rust 工程统一表示层。输入完整 Rust 工程，包括 Cargo 配置、源码与编译信息；解析工程结构、API 与类型、依赖与调用关系、编译语义；将这些信息组织成统一的代码实体与关系；为 Unsafe Analysis、Fuzzing Agent 等下游任务提供共享基础。图中保留的是项目原始材料中的第二张架构图，用于说明该总体定位。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从表示形式上看，该项目更接近代码知识图谱，也就是 CKG。不是只解析源码语法，而是将 Workspace、Crate、Module、Function、Trait、Type 等代码实体，以及调用、依赖、实现等关系统一组织起来。</a:t>
            </a:r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现有代码知识图谱通过提取文件、函数、类型、模块等实体，以及调用、导入、依赖、继承等关系，已经能够支持代码检索与导航、调用链和影响分析，并为大模型和 Agent 提供结构化上下文。中间保留本轮调研的四个代表：Graphify侧重语法与规则构图、聚类和关系探索；CodeGraph增强上下文解析与调用索引；GitNexus提供关系、社区和流程探索；Understand Anything结合结构提取与大模型做解释和导览。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下面单独说明能力边界。这些方案大多以 Tree-sitter 或 AST 等结构解析为基础，擅长结构、调用、依赖和检索。对于本项目需要的 Rust 类型系统和编译语义，仍需要更深入的分析。这里的“不足”不是说这些工具完全没有语义能力；它们可以通过规则、上下文或大模型补充部分信息，但其 Rust 类型推导、trait 求解和编译语义覆盖，需要逐工具、逐版本验证。这也引出了后面使用 RA 与 rustc 的方案。</a:t>
            </a:r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本项目不是单独构建某一种代码图，而是融合 CKG、SCG、CPG 三类图谱关注的信息。代码知识图谱关注项目由什么组成、相关代码在哪里；语义代码图谱关注代码实体之间是什么语义关系；代码属性图关注程序如何执行、数据如何传播。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右侧用三个信息视角说明统一表示。工程结构包括 Workspace、Crate、Module 和 Dependency；代码语义包括 Function、Trait、Type 和 Call；程序行为包括 CFG、Data Flow、BasicBlock 和 Operation。它们共同支撑 Rust 智能解析底座，为上层 Agent 提供不同粒度的代码上下文。这里列举的是实体、关系和分析结构的代表，并非把所有项目都定义为同一种节点，也不意味着先分别构建三套独立图再简单拼接；实际仍需统一 Schema、实体标识与源码映射。SCG 使用更准确的名称“语义代码图谱”，对应 Semantic Code Graph。</a:t>
            </a:r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Rust 生态已有可以复用的分析能力。RA 适合源码侧的定义、引用、表达式类型、trait 与 impl、方法解析和宏相关查询。rustc 则可以提供具体编译配置下的诊断、类型检查结果，以及 HIR 和 MIR 等表示。MIR 包含基本块和操作，为控制流和进一步分析提供基础。两者分工并不是绝对的能力划线，而是我们选择的接入侧重点。需要特别说明，RA 的 HIR 和 rustc 的 HIR 是不同的数据模型，不能直接共用内部标识；得到 MIR 也不代表已经获得完整的数据流或安全性证明。因此我们仍需实现实体对齐、统一构图和专项算法，并固定工具链与接口版本。</a:t>
            </a:r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这张图展示拟议的端到端架构。左侧采集工程结构和语义信息，中间将 workspace、crate、模块、函数和类型关联起来，右侧通过 MCP 暴露查询与分析工具，服务 Fuzzing 和 Unsafe 两类应用。我的理解是，最关键的工作位于信息源与图谱之间：同一个函数从 RA 和 rustc 提取出来后，要能正确对应，同时保留源码位置、配置、来源和解析状态。图中调用、数据流和所有权相关事实不是某一个接口一次性返回的，需要按分析目标继续提取和计算。该图是方案示意，后续实现应明确每项查询的范围、精度和未知状态。</a:t>
            </a:r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把 RA 当作库，意味着我们的 Rust 程序可以直接复用它的组件，而不是通过编辑器手动跳转。project_model 负责理解 Cargo 工程与 crate 依赖，vfs 管理文件标识和源码输入，syntax 提供可遍历的语法结构，hir 提供定义、类型和实现等语义对象，ide 提供 AnalysisHost、Analysis 以及结构和导航查询。图中的箭头是职责上的组织示意，不是 RA 的全部内部依赖。我们可以根据问题选择接口层：批量提取语义实体可以使用 hir，从文件位置出发的结构与导航可以使用 ide。最终的图谱节点、关系命名、存储和增量更新，仍由自己的工具负责。库接口需要固定版本并封装适配层。</a:t>
            </a:r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可行流程分为五步。第一步加载 Cargo 工程、文件和配置，形成分析数据库。第二步用 file_structure 获取文件中的初始符号、种类和源码范围。第三步根据这些范围定位 RA 的 AST，补齐字段、签名、调用和引用位置。第四步用语义接口查询表达式类型以及引用或调用对应的定义。最后统一实体标识，生成节点和边，写入索引。比如 storage.get，AST 负责找到这一处调用，RA 查询接收者类型和目标定义，构图层再将 CallSite 连接到目标 Function。若解析失败，就保留未解析状态。对于泛型和动态分派，需要区分定义上下文、实例上下文和候选目标。关联项、宏生成项及局部定义也需要按提取范围补充遍历。</a:t>
            </a:r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Schema 建议按四层组织。工程层放 workspace、crate、模块和文件，表达包含与依赖。定义层放函数、结构体、枚举、trait 和 impl，表达实现关系与类型使用。使用层保留调用点，引用也可以先作为带位置的关系记录，避免只存一条函数到函数的调用边而丢掉调用现场。分析层按需加入基本块、操作和诊断，以及控制流和数据流关系。前三层构成第一版的源码语义基础，第四层逐步扩展。这里的层级是本方案的数据组织，并不是 RA 的内部结构。跨层连线也不全是包含：调用点会引用定义，分析操作会映射源码，诊断会关联实体。所有层共享源码位置、构建配置、分析来源、快照和解析状态，方便解释结论及后续更新。</a:t>
            </a:r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MCP 的职责是把底座能力封装成 Agent 可以调用的工具，不在协议层完成语义分析。基础查询先提供实体详情、类型和调用关系。unsafe 方向计划提供危险操作定位和数据流追踪，帮助组织路径及证据；fuzzing 方向计划提供候选入口和输入构造信息，帮助生成有效测试。这些专项名称是拟议接口，不代表我们已经实现了完整算法。每次返回结果，都应包含事实、源码位置和解析状态。覆盖率、崩溃和人工复核结果再关联回原始分析快照，避免混用版本。静态图上的路径不证明真实可执行，得到安全证据也不等于完成安全证明，Agent 需要结合后续验证作判断。</a:t>
            </a:r>
            <a:endParaRPr 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最后将方案收束为三组需要实现的能力。第一组是图谱构建与更新：加载 Cargo 工程，以 RA 提取结构与语义建立基础图谱，按需补充 rustc 信息，保存实体、关系及源码位置。需要专门实现增量更新，在源码或构建配置变化后判断受影响范围，重新分析并替换相关事实，同时删除失效节点和边。RA 自身的增量计算并不等于我们的持久化图谱会自动同步；配置或依赖变化时，受影响范围可能扩大，必要时回退到完整重建。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第二组是查询与分析：查询工程结构、API、类型、Trait 实现和调用关系，进一步支持调用路径与修改影响分析，为 Unsafe 和 Fuzzing 提供代码上下文与分析依据。专项数据流和安全分析能力按阶段实现，结果应保留源码位置、分析配置与解析状态。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第三组是使用入口和 Agent 接入。CLI 提供初始化、构建、更新与查询命令；MCP Server 将查询分析封装为 Agent 可调用的工具；Skill 提供何时调用工具、怎样组合查询和使用结果的指引。Skill 本身不执行语义分析，三者复用底层程序能力。整体形成构建与增量更新、查询与分析、开发者及 Agent 使用的完整路径。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当前实现范围明确排除 Web 界面、桌面图形界面和独立 HTTP API。对外提供 CLI、MCP Server 与配套 Skill。这里的独立 HTTP API 是指额外设计的应用接口，不限制 MCP 协议将来采用的传输方式。Skill 负责使用指导，实际分析由底层程序执行。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rust_semantic_foundation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altLang="en-US" smtClean="0"/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altLang="en-US" smtClean="0"/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CN"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lang="zh-CN"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85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lang="zh-CN"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lang="zh-CN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4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lang="zh-CN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lang="zh-CN"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lang="zh-CN" sz="185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lang="zh-CN"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lang="zh-CN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lang="zh-CN" sz="14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lang="zh-CN"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lang="zh-CN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lang="zh-CN" sz="10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cover-title"/>
          <p:cNvGrpSpPr/>
          <p:nvPr/>
        </p:nvGrpSpPr>
        <p:grpSpPr>
          <a:xfrm>
            <a:off x="590550" y="1767840"/>
            <a:ext cx="6017768" cy="1485265"/>
            <a:chOff x="590550" y="1767840"/>
            <a:chExt cx="6017768" cy="1485265"/>
          </a:xfrm>
        </p:grpSpPr>
        <p:sp>
          <p:nvSpPr>
            <p:cNvPr id="4" name="TextBox 4"/>
            <p:cNvSpPr txBox="1"/>
            <p:nvPr/>
          </p:nvSpPr>
          <p:spPr>
            <a:xfrm>
              <a:off x="590550" y="1767840"/>
              <a:ext cx="5635371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Rust 智能解析底座</a:t>
              </a:r>
              <a:endParaRPr lang="zh-CN" sz="48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2884170"/>
              <a:ext cx="6010910" cy="3689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24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面向 </a:t>
              </a:r>
              <a:r>
                <a:rPr lang="en-US" altLang="zh-CN" sz="24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Agent </a:t>
              </a:r>
              <a:r>
                <a:rPr lang="zh-CN" altLang="en-US" sz="24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 </a:t>
              </a:r>
              <a:r>
                <a:rPr lang="en-US" altLang="zh-CN" sz="24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Rust </a:t>
              </a:r>
              <a:r>
                <a:rPr lang="zh-CN" altLang="en-US" sz="24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工程语义表示与查询底座</a:t>
              </a:r>
              <a:endParaRPr lang="zh-CN" altLang="en-US" sz="24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876300" y="4566920"/>
            <a:ext cx="471297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2100" dirty="0">
                <a:solidFill>
                  <a:schemeClr val="accent6"/>
                </a:solidFill>
                <a:sym typeface="+mn-ea"/>
              </a:rPr>
              <a:t>总体理解　 /　 调研洞察　 /　 方案构想</a:t>
            </a:r>
            <a:endParaRPr lang="zh-CN" sz="210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0882630" y="6290310"/>
            <a:ext cx="553085" cy="23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01 / 11</a:t>
            </a:r>
            <a:endParaRPr lang="zh-CN" sz="120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18160" y="428625"/>
            <a:ext cx="3261360" cy="586740"/>
            <a:chOff x="518160" y="428625"/>
            <a:chExt cx="3261360" cy="586740"/>
          </a:xfrm>
        </p:grpSpPr>
        <p:sp>
          <p:nvSpPr>
            <p:cNvPr id="2" name="TextBox 2"/>
            <p:cNvSpPr txBox="1"/>
            <p:nvPr/>
          </p:nvSpPr>
          <p:spPr>
            <a:xfrm>
              <a:off x="518160" y="428625"/>
              <a:ext cx="326136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对项目的总体理解</a:t>
              </a:r>
              <a:endPara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" name="goal"/>
          <p:cNvGrpSpPr/>
          <p:nvPr/>
        </p:nvGrpSpPr>
        <p:grpSpPr>
          <a:xfrm>
            <a:off x="541782" y="1173480"/>
            <a:ext cx="6230079" cy="410718"/>
            <a:chOff x="541782" y="1173480"/>
            <a:chExt cx="6230079" cy="410718"/>
          </a:xfrm>
        </p:grpSpPr>
        <p:sp>
          <p:nvSpPr>
            <p:cNvPr id="4" name="TextBox 4"/>
            <p:cNvSpPr txBox="1"/>
            <p:nvPr/>
          </p:nvSpPr>
          <p:spPr>
            <a:xfrm>
              <a:off x="541782" y="1173480"/>
              <a:ext cx="623007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项目的核心目标是构建一个 </a:t>
              </a:r>
              <a:r>
                <a:rPr lang="zh-CN" sz="21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Rust 工程统一表示层</a:t>
              </a:r>
              <a:endParaRPr lang="zh-CN" sz="21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0" name="scope"/>
          <p:cNvGrpSpPr/>
          <p:nvPr/>
        </p:nvGrpSpPr>
        <p:grpSpPr>
          <a:xfrm>
            <a:off x="620268" y="1745932"/>
            <a:ext cx="6609491" cy="1522857"/>
            <a:chOff x="620268" y="1745932"/>
            <a:chExt cx="6609491" cy="1522857"/>
          </a:xfrm>
        </p:grpSpPr>
        <p:sp>
          <p:nvSpPr>
            <p:cNvPr id="6" name="TextBox 6"/>
            <p:cNvSpPr txBox="1"/>
            <p:nvPr/>
          </p:nvSpPr>
          <p:spPr>
            <a:xfrm>
              <a:off x="620268" y="1745932"/>
              <a:ext cx="602062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78435" indent="-178435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输入完整 Rust 工程，包括 Cargo 配置、源码与编译信息；</a:t>
              </a:r>
              <a:endParaRPr lang="zh-CN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20268" y="2145982"/>
              <a:ext cx="59021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78435" indent="-178435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解析工程结构、API / 类型、依赖与调用关系、编译语义；</a:t>
              </a:r>
              <a:endParaRPr lang="zh-CN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20268" y="2546032"/>
              <a:ext cx="4159885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78435" indent="-178435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将这些信息组织成统一的代码实体与关系；</a:t>
              </a:r>
              <a:endParaRPr lang="zh-CN" sz="16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20268" y="2946082"/>
              <a:ext cx="66094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78435" indent="-178435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为 Unsafe Analysis、Fuzzing Agent 等下游任务提供共享基础。</a:t>
              </a:r>
              <a:endParaRPr lang="zh-CN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2" name="provided-project-two"/>
          <p:cNvGrpSpPr/>
          <p:nvPr/>
        </p:nvGrpSpPr>
        <p:grpSpPr>
          <a:xfrm>
            <a:off x="3260119" y="3390900"/>
            <a:ext cx="5671762" cy="2305050"/>
            <a:chOff x="3260119" y="3390900"/>
            <a:chExt cx="5671762" cy="2305050"/>
          </a:xfrm>
        </p:grpSpPr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260119" y="3390900"/>
              <a:ext cx="5671762" cy="2305050"/>
            </a:xfrm>
            <a:prstGeom prst="rect">
              <a:avLst/>
            </a:prstGeom>
          </p:spPr>
        </p:pic>
      </p:grpSp>
      <p:grpSp>
        <p:nvGrpSpPr>
          <p:cNvPr id="14" name="conclusion"/>
          <p:cNvGrpSpPr/>
          <p:nvPr/>
        </p:nvGrpSpPr>
        <p:grpSpPr>
          <a:xfrm>
            <a:off x="541782" y="5916930"/>
            <a:ext cx="6843095" cy="410718"/>
            <a:chOff x="541782" y="5916930"/>
            <a:chExt cx="6843095" cy="410718"/>
          </a:xfrm>
        </p:grpSpPr>
        <p:sp>
          <p:nvSpPr>
            <p:cNvPr id="13" name="TextBox 13"/>
            <p:cNvSpPr txBox="1"/>
            <p:nvPr/>
          </p:nvSpPr>
          <p:spPr>
            <a:xfrm>
              <a:off x="541782" y="5916930"/>
              <a:ext cx="684309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从表示形式上看，该项目更接近 </a:t>
              </a:r>
              <a:r>
                <a:rPr lang="zh-CN" sz="21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代码知识图谱（CKG）</a:t>
              </a:r>
              <a:endParaRPr lang="zh-CN" sz="21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1073130" y="6376035"/>
            <a:ext cx="553085" cy="23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02 / 11</a:t>
            </a:r>
            <a:endParaRPr lang="zh-CN" sz="1200" dirty="0">
              <a:solidFill>
                <a:schemeClr val="accent5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18160" y="428625"/>
            <a:ext cx="5280660" cy="586740"/>
            <a:chOff x="518160" y="428625"/>
            <a:chExt cx="5280660" cy="586740"/>
          </a:xfrm>
        </p:grpSpPr>
        <p:sp>
          <p:nvSpPr>
            <p:cNvPr id="2" name="TextBox 2"/>
            <p:cNvSpPr txBox="1"/>
            <p:nvPr/>
          </p:nvSpPr>
          <p:spPr>
            <a:xfrm>
              <a:off x="518160" y="428625"/>
              <a:ext cx="528066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现有代码知识图谱的能力边界</a:t>
              </a:r>
              <a:endPara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" name="summary"/>
          <p:cNvGrpSpPr/>
          <p:nvPr/>
        </p:nvGrpSpPr>
        <p:grpSpPr>
          <a:xfrm>
            <a:off x="541782" y="1173480"/>
            <a:ext cx="8555736" cy="782193"/>
            <a:chOff x="541782" y="1173480"/>
            <a:chExt cx="8555736" cy="782193"/>
          </a:xfrm>
        </p:grpSpPr>
        <p:sp>
          <p:nvSpPr>
            <p:cNvPr id="4" name="TextBox 4"/>
            <p:cNvSpPr txBox="1"/>
            <p:nvPr/>
          </p:nvSpPr>
          <p:spPr>
            <a:xfrm>
              <a:off x="541782" y="1173480"/>
              <a:ext cx="8555736" cy="7821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925"/>
                </a:lnSpc>
              </a:pPr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现有工具通过提取代码实体与关系，支持检索导航、调用链与影响分析，</a:t>
              </a:r>
              <a:b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并为 LLM / Agent 提供结构化代码上下文。</a:t>
              </a:r>
              <a:endParaRPr lang="zh-CN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9" name="graphify"/>
          <p:cNvGrpSpPr/>
          <p:nvPr/>
        </p:nvGrpSpPr>
        <p:grpSpPr>
          <a:xfrm>
            <a:off x="571500" y="2095500"/>
            <a:ext cx="5238750" cy="876300"/>
            <a:chOff x="571500" y="2095500"/>
            <a:chExt cx="5238750" cy="876300"/>
          </a:xfrm>
        </p:grpSpPr>
        <p:sp>
          <p:nvSpPr>
            <p:cNvPr id="6" name="Rectangle 6"/>
            <p:cNvSpPr/>
            <p:nvPr/>
          </p:nvSpPr>
          <p:spPr>
            <a:xfrm>
              <a:off x="571500" y="2095500"/>
              <a:ext cx="5238750" cy="876300"/>
            </a:xfrm>
            <a:prstGeom prst="roundRect">
              <a:avLst>
                <a:gd name="adj" fmla="val 1087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69620" y="2214562"/>
              <a:ext cx="135206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Graphify</a:t>
              </a:r>
              <a:endParaRPr lang="en-US" sz="22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72668" y="2631758"/>
              <a:ext cx="33819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语法与规则构图 · 聚类与关系探索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codegraph"/>
          <p:cNvGrpSpPr/>
          <p:nvPr/>
        </p:nvGrpSpPr>
        <p:grpSpPr>
          <a:xfrm>
            <a:off x="6286500" y="2095500"/>
            <a:ext cx="5238750" cy="876300"/>
            <a:chOff x="6286500" y="2095500"/>
            <a:chExt cx="5238750" cy="876300"/>
          </a:xfrm>
        </p:grpSpPr>
        <p:sp>
          <p:nvSpPr>
            <p:cNvPr id="10" name="Rectangle 10"/>
            <p:cNvSpPr/>
            <p:nvPr/>
          </p:nvSpPr>
          <p:spPr>
            <a:xfrm>
              <a:off x="6286500" y="2095500"/>
              <a:ext cx="5238750" cy="876300"/>
            </a:xfrm>
            <a:prstGeom prst="roundRect">
              <a:avLst>
                <a:gd name="adj" fmla="val 1087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484620" y="2214562"/>
              <a:ext cx="161695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CodeGraph</a:t>
              </a:r>
              <a:endParaRPr lang="en-US" sz="22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7668" y="2631758"/>
              <a:ext cx="33819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上下文解析 · 调用索引与影响分析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7" name="gitnexus"/>
          <p:cNvGrpSpPr/>
          <p:nvPr/>
        </p:nvGrpSpPr>
        <p:grpSpPr>
          <a:xfrm>
            <a:off x="571500" y="3219450"/>
            <a:ext cx="5238750" cy="876300"/>
            <a:chOff x="571500" y="3219450"/>
            <a:chExt cx="5238750" cy="876300"/>
          </a:xfrm>
        </p:grpSpPr>
        <p:sp>
          <p:nvSpPr>
            <p:cNvPr id="14" name="Rectangle 14"/>
            <p:cNvSpPr/>
            <p:nvPr/>
          </p:nvSpPr>
          <p:spPr>
            <a:xfrm>
              <a:off x="571500" y="3219450"/>
              <a:ext cx="5238750" cy="876300"/>
            </a:xfrm>
            <a:prstGeom prst="roundRect">
              <a:avLst>
                <a:gd name="adj" fmla="val 1087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69620" y="3338512"/>
              <a:ext cx="136140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GitNexus</a:t>
              </a:r>
              <a:endParaRPr lang="en-US" sz="22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2668" y="3755708"/>
              <a:ext cx="271555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关系索引 · 社区与流程探索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1" name="understand-anything"/>
          <p:cNvGrpSpPr/>
          <p:nvPr/>
        </p:nvGrpSpPr>
        <p:grpSpPr>
          <a:xfrm>
            <a:off x="6286500" y="3219450"/>
            <a:ext cx="5238750" cy="876300"/>
            <a:chOff x="6286500" y="3219450"/>
            <a:chExt cx="5238750" cy="876300"/>
          </a:xfrm>
        </p:grpSpPr>
        <p:sp>
          <p:nvSpPr>
            <p:cNvPr id="18" name="Rectangle 18"/>
            <p:cNvSpPr/>
            <p:nvPr/>
          </p:nvSpPr>
          <p:spPr>
            <a:xfrm>
              <a:off x="6286500" y="3219450"/>
              <a:ext cx="5238750" cy="876300"/>
            </a:xfrm>
            <a:prstGeom prst="roundRect">
              <a:avLst>
                <a:gd name="adj" fmla="val 1087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84620" y="3338512"/>
              <a:ext cx="3207258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Understand Anything</a:t>
              </a:r>
              <a:endParaRPr lang="en-US" sz="22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87668" y="3755708"/>
              <a:ext cx="298985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结构提取 + LLM · 解释与导览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capability-boundary"/>
          <p:cNvGrpSpPr/>
          <p:nvPr/>
        </p:nvGrpSpPr>
        <p:grpSpPr>
          <a:xfrm>
            <a:off x="571500" y="4467225"/>
            <a:ext cx="10953750" cy="1571625"/>
            <a:chOff x="571500" y="4467225"/>
            <a:chExt cx="10953750" cy="1571625"/>
          </a:xfrm>
        </p:grpSpPr>
        <p:sp>
          <p:nvSpPr>
            <p:cNvPr id="22" name="Rectangle 22"/>
            <p:cNvSpPr/>
            <p:nvPr/>
          </p:nvSpPr>
          <p:spPr>
            <a:xfrm>
              <a:off x="571500" y="4467225"/>
              <a:ext cx="10953750" cy="1571625"/>
            </a:xfrm>
            <a:prstGeom prst="roundRect">
              <a:avLst>
                <a:gd name="adj" fmla="val 727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88670" y="4595812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能力边界</a:t>
              </a:r>
              <a:endParaRPr lang="zh-CN" sz="22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1718" y="5041582"/>
              <a:ext cx="5427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现有方案大多以 Tree-sitter / AST 等结构解析为基础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9432" y="5497830"/>
              <a:ext cx="397916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72CDD1"/>
                  </a:solidFill>
                  <a:latin typeface="+mn-lt"/>
                  <a:ea typeface="+mn-ea"/>
                  <a:cs typeface="+mn-cs"/>
                </a:rPr>
                <a:t>擅长</a:t>
              </a:r>
              <a:r>
                <a:rPr lang="zh-CN" sz="21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　结构、调用、依赖、检索</a:t>
              </a:r>
              <a:endParaRPr lang="zh-CN" sz="21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42507" y="5497830"/>
              <a:ext cx="413051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F2B374"/>
                  </a:solidFill>
                  <a:latin typeface="+mn-lt"/>
                  <a:ea typeface="+mn-ea"/>
                  <a:cs typeface="+mn-cs"/>
                </a:rPr>
                <a:t>不足</a:t>
              </a:r>
              <a:r>
                <a:rPr lang="zh-CN" sz="21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　Rust 类型系统与编译语义</a:t>
              </a:r>
              <a:endParaRPr lang="zh-CN" sz="21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073130" y="6366510"/>
            <a:ext cx="553085" cy="23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03 / 11</a:t>
            </a:r>
            <a:endParaRPr lang="zh-CN" sz="1200" dirty="0">
              <a:solidFill>
                <a:schemeClr val="accent5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18160" y="428625"/>
            <a:ext cx="7292531" cy="586740"/>
            <a:chOff x="518160" y="428625"/>
            <a:chExt cx="7292531" cy="586740"/>
          </a:xfrm>
        </p:grpSpPr>
        <p:sp>
          <p:nvSpPr>
            <p:cNvPr id="2" name="TextBox 2"/>
            <p:cNvSpPr txBox="1"/>
            <p:nvPr/>
          </p:nvSpPr>
          <p:spPr>
            <a:xfrm>
              <a:off x="518160" y="428625"/>
              <a:ext cx="7292531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三类图谱融合：构建统一 Rust 工程表示</a:t>
              </a:r>
              <a:endPara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" name="intro"/>
          <p:cNvGrpSpPr/>
          <p:nvPr/>
        </p:nvGrpSpPr>
        <p:grpSpPr>
          <a:xfrm>
            <a:off x="544068" y="1260158"/>
            <a:ext cx="4173855" cy="673100"/>
            <a:chOff x="544068" y="1260158"/>
            <a:chExt cx="4173855" cy="673100"/>
          </a:xfrm>
        </p:grpSpPr>
        <p:sp>
          <p:nvSpPr>
            <p:cNvPr id="4" name="TextBox 4"/>
            <p:cNvSpPr txBox="1"/>
            <p:nvPr/>
          </p:nvSpPr>
          <p:spPr>
            <a:xfrm>
              <a:off x="544068" y="1260158"/>
              <a:ext cx="4173855" cy="673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625"/>
                </a:lnSpc>
              </a:pPr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融合 CKG、SCG、CPG三类图谱关注的信息，</a:t>
              </a:r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统一关联到同一份 </a:t>
              </a:r>
              <a:r>
                <a:rPr lang="en-US" alt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Rust </a:t>
              </a:r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工程和源码位置</a:t>
              </a:r>
              <a:endParaRPr lang="zh-CN" altLang="en-US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9" name="ckg-question"/>
          <p:cNvGrpSpPr/>
          <p:nvPr/>
        </p:nvGrpSpPr>
        <p:grpSpPr>
          <a:xfrm>
            <a:off x="571500" y="2495550"/>
            <a:ext cx="4724400" cy="828675"/>
            <a:chOff x="571500" y="2495550"/>
            <a:chExt cx="4724400" cy="828675"/>
          </a:xfrm>
        </p:grpSpPr>
        <p:sp>
          <p:nvSpPr>
            <p:cNvPr id="6" name="Rectangle 6"/>
            <p:cNvSpPr/>
            <p:nvPr/>
          </p:nvSpPr>
          <p:spPr>
            <a:xfrm>
              <a:off x="571500" y="2495550"/>
              <a:ext cx="4724400" cy="828675"/>
            </a:xfrm>
            <a:prstGeom prst="roundRect">
              <a:avLst>
                <a:gd name="adj" fmla="val 11494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51332" y="2592705"/>
              <a:ext cx="2329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代码知识图谱 CKG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3618" y="2974658"/>
              <a:ext cx="33486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项目由什么组成，相关代码在哪里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scg-question"/>
          <p:cNvGrpSpPr/>
          <p:nvPr/>
        </p:nvGrpSpPr>
        <p:grpSpPr>
          <a:xfrm>
            <a:off x="571500" y="3609975"/>
            <a:ext cx="4724400" cy="828675"/>
            <a:chOff x="571500" y="3609975"/>
            <a:chExt cx="4724400" cy="828675"/>
          </a:xfrm>
        </p:grpSpPr>
        <p:sp>
          <p:nvSpPr>
            <p:cNvPr id="10" name="Rectangle 10"/>
            <p:cNvSpPr/>
            <p:nvPr/>
          </p:nvSpPr>
          <p:spPr>
            <a:xfrm>
              <a:off x="571500" y="3609975"/>
              <a:ext cx="4724400" cy="828675"/>
            </a:xfrm>
            <a:prstGeom prst="roundRect">
              <a:avLst>
                <a:gd name="adj" fmla="val 11494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1332" y="3707130"/>
              <a:ext cx="2329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语义代码图谱 SCG</a:t>
              </a:r>
              <a:endParaRPr lang="zh-CN" sz="21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3618" y="4089082"/>
              <a:ext cx="29043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代码实体之间是什么语义关系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7" name="cpg-question"/>
          <p:cNvGrpSpPr/>
          <p:nvPr/>
        </p:nvGrpSpPr>
        <p:grpSpPr>
          <a:xfrm>
            <a:off x="571500" y="4724400"/>
            <a:ext cx="4724400" cy="828675"/>
            <a:chOff x="571500" y="4724400"/>
            <a:chExt cx="4724400" cy="828675"/>
          </a:xfrm>
        </p:grpSpPr>
        <p:sp>
          <p:nvSpPr>
            <p:cNvPr id="14" name="Rectangle 14"/>
            <p:cNvSpPr/>
            <p:nvPr/>
          </p:nvSpPr>
          <p:spPr>
            <a:xfrm>
              <a:off x="571500" y="4724400"/>
              <a:ext cx="4724400" cy="828675"/>
            </a:xfrm>
            <a:prstGeom prst="roundRect">
              <a:avLst>
                <a:gd name="adj" fmla="val 11494"/>
              </a:avLst>
            </a:prstGeom>
            <a:solidFill>
              <a:srgbClr val="FFF3E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51332" y="4821555"/>
              <a:ext cx="20464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代码属性图 CPG</a:t>
              </a:r>
              <a:endParaRPr lang="zh-CN" sz="210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3618" y="5203508"/>
              <a:ext cx="29043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程序如何执行，数据如何传播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1" name="fusion-diagram"/>
          <p:cNvGrpSpPr/>
          <p:nvPr/>
        </p:nvGrpSpPr>
        <p:grpSpPr>
          <a:xfrm>
            <a:off x="5819775" y="1257300"/>
            <a:ext cx="5734050" cy="4346448"/>
            <a:chOff x="5819775" y="1257300"/>
            <a:chExt cx="5734050" cy="4346448"/>
          </a:xfrm>
        </p:grpSpPr>
        <p:sp>
          <p:nvSpPr>
            <p:cNvPr id="18" name="Rectangle 18"/>
            <p:cNvSpPr/>
            <p:nvPr/>
          </p:nvSpPr>
          <p:spPr>
            <a:xfrm>
              <a:off x="5819775" y="1257300"/>
              <a:ext cx="5734050" cy="5715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643929" y="1392555"/>
              <a:ext cx="40857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Rust Unified Representation</a:t>
              </a:r>
              <a:endParaRPr lang="en-US" sz="21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Line 20"/>
            <p:cNvSpPr/>
            <p:nvPr/>
          </p:nvSpPr>
          <p:spPr>
            <a:xfrm>
              <a:off x="6753225" y="2009775"/>
              <a:ext cx="3867150" cy="9525"/>
            </a:xfrm>
            <a:custGeom>
              <a:avLst/>
              <a:gdLst/>
              <a:ahLst/>
              <a:cxnLst/>
              <a:rect l="l" t="t" r="r" b="b"/>
              <a:pathLst>
                <a:path w="3867150" h="9525">
                  <a:moveTo>
                    <a:pt x="0" y="0"/>
                  </a:moveTo>
                  <a:lnTo>
                    <a:pt x="3867150" y="0"/>
                  </a:lnTo>
                </a:path>
              </a:pathLst>
            </a:custGeom>
            <a:noFill/>
            <a:ln w="19050">
              <a:solidFill>
                <a:srgbClr val="60758A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8686800" y="1828800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19050">
              <a:solidFill>
                <a:srgbClr val="60758A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6753225" y="2009775"/>
              <a:ext cx="9525" cy="180975"/>
            </a:xfrm>
            <a:custGeom>
              <a:avLst/>
              <a:gdLst/>
              <a:ahLst/>
              <a:cxnLst/>
              <a:rect l="l" t="t" r="r" b="b"/>
              <a:pathLst>
                <a:path w="9525" h="180975">
                  <a:moveTo>
                    <a:pt x="0" y="0"/>
                  </a:moveTo>
                  <a:lnTo>
                    <a:pt x="0" y="180975"/>
                  </a:lnTo>
                </a:path>
              </a:pathLst>
            </a:custGeom>
            <a:noFill/>
            <a:ln w="19050">
              <a:solidFill>
                <a:srgbClr val="60758A"/>
              </a:solidFill>
            </a:ln>
          </p:spPr>
        </p:sp>
        <p:sp>
          <p:nvSpPr>
            <p:cNvPr id="23" name="Line 23"/>
            <p:cNvSpPr/>
            <p:nvPr/>
          </p:nvSpPr>
          <p:spPr>
            <a:xfrm>
              <a:off x="10620375" y="2009775"/>
              <a:ext cx="9525" cy="180975"/>
            </a:xfrm>
            <a:custGeom>
              <a:avLst/>
              <a:gdLst/>
              <a:ahLst/>
              <a:cxnLst/>
              <a:rect l="l" t="t" r="r" b="b"/>
              <a:pathLst>
                <a:path w="9525" h="180975">
                  <a:moveTo>
                    <a:pt x="0" y="0"/>
                  </a:moveTo>
                  <a:lnTo>
                    <a:pt x="0" y="180975"/>
                  </a:lnTo>
                </a:path>
              </a:pathLst>
            </a:custGeom>
            <a:noFill/>
            <a:ln w="19050">
              <a:solidFill>
                <a:srgbClr val="60758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819775" y="2209800"/>
              <a:ext cx="1866900" cy="2371725"/>
            </a:xfrm>
            <a:prstGeom prst="roundRect">
              <a:avLst>
                <a:gd name="adj" fmla="val 5102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64560" y="2328862"/>
              <a:ext cx="57732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CKG</a:t>
              </a:r>
              <a:endParaRPr lang="en-US" sz="22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00597" y="27555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工程结构</a:t>
              </a:r>
              <a:endParaRPr lang="zh-CN" sz="165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11418" y="3193732"/>
              <a:ext cx="11678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Workspace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11418" y="3527108"/>
              <a:ext cx="6345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Crate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011418" y="3860482"/>
              <a:ext cx="7454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Module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011418" y="4193858"/>
              <a:ext cx="12453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Dependency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772400" y="2209800"/>
              <a:ext cx="1838325" cy="2371725"/>
            </a:xfrm>
            <a:prstGeom prst="roundRect">
              <a:avLst>
                <a:gd name="adj" fmla="val 5181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398135" y="2328862"/>
              <a:ext cx="57732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SCG</a:t>
              </a:r>
              <a:endParaRPr lang="en-US" sz="22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234172" y="27555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代码语义</a:t>
              </a:r>
              <a:endParaRPr lang="zh-CN" sz="165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964043" y="3193732"/>
              <a:ext cx="9450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Function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964043" y="3527108"/>
              <a:ext cx="57835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Trait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964043" y="3860482"/>
              <a:ext cx="5123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964043" y="4193858"/>
              <a:ext cx="3997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Call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9696450" y="2209800"/>
              <a:ext cx="1857375" cy="2371725"/>
            </a:xfrm>
            <a:prstGeom prst="roundRect">
              <a:avLst>
                <a:gd name="adj" fmla="val 5128"/>
              </a:avLst>
            </a:prstGeom>
            <a:solidFill>
              <a:srgbClr val="FFF3E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331710" y="2328862"/>
              <a:ext cx="57732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CPG</a:t>
              </a:r>
              <a:endParaRPr lang="en-US" sz="225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167747" y="27555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程序行为</a:t>
              </a:r>
              <a:endParaRPr lang="zh-CN" sz="1650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888093" y="3193732"/>
              <a:ext cx="40401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CFG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888093" y="3527108"/>
              <a:ext cx="10642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Data Flow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88093" y="3860482"/>
              <a:ext cx="11399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BasicBlock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888093" y="4193858"/>
              <a:ext cx="111201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Operation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Line 45"/>
            <p:cNvSpPr/>
            <p:nvPr/>
          </p:nvSpPr>
          <p:spPr>
            <a:xfrm>
              <a:off x="6753225" y="4581525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19050">
              <a:solidFill>
                <a:srgbClr val="60758A"/>
              </a:solidFill>
            </a:ln>
          </p:spPr>
        </p:sp>
        <p:sp>
          <p:nvSpPr>
            <p:cNvPr id="46" name="Line 46"/>
            <p:cNvSpPr/>
            <p:nvPr/>
          </p:nvSpPr>
          <p:spPr>
            <a:xfrm>
              <a:off x="8686800" y="4581525"/>
              <a:ext cx="1" cy="40957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47" name="Line 47"/>
            <p:cNvSpPr/>
            <p:nvPr/>
          </p:nvSpPr>
          <p:spPr>
            <a:xfrm>
              <a:off x="10620375" y="4581525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19050">
              <a:solidFill>
                <a:srgbClr val="60758A"/>
              </a:solidFill>
            </a:ln>
          </p:spPr>
        </p:sp>
        <p:sp>
          <p:nvSpPr>
            <p:cNvPr id="48" name="Line 48"/>
            <p:cNvSpPr/>
            <p:nvPr/>
          </p:nvSpPr>
          <p:spPr>
            <a:xfrm>
              <a:off x="6753225" y="4810125"/>
              <a:ext cx="3867150" cy="9525"/>
            </a:xfrm>
            <a:custGeom>
              <a:avLst/>
              <a:gdLst/>
              <a:ahLst/>
              <a:cxnLst/>
              <a:rect l="l" t="t" r="r" b="b"/>
              <a:pathLst>
                <a:path w="3867150" h="9525">
                  <a:moveTo>
                    <a:pt x="0" y="0"/>
                  </a:moveTo>
                  <a:lnTo>
                    <a:pt x="3867150" y="0"/>
                  </a:lnTo>
                </a:path>
              </a:pathLst>
            </a:custGeom>
            <a:noFill/>
            <a:ln w="19050">
              <a:solidFill>
                <a:srgbClr val="60758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5819775" y="5114925"/>
              <a:ext cx="5734050" cy="428625"/>
            </a:xfrm>
            <a:prstGeom prst="roundRect">
              <a:avLst>
                <a:gd name="adj" fmla="val 17778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451729" y="5193030"/>
              <a:ext cx="24701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Rust 智能解析底座</a:t>
              </a:r>
              <a:endParaRPr lang="zh-CN" sz="21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3" name="conclusion"/>
          <p:cNvGrpSpPr/>
          <p:nvPr/>
        </p:nvGrpSpPr>
        <p:grpSpPr>
          <a:xfrm>
            <a:off x="541782" y="5897880"/>
            <a:ext cx="9697532" cy="410718"/>
            <a:chOff x="541782" y="5897880"/>
            <a:chExt cx="9697532" cy="410718"/>
          </a:xfrm>
        </p:grpSpPr>
        <p:sp>
          <p:nvSpPr>
            <p:cNvPr id="52" name="TextBox 52"/>
            <p:cNvSpPr txBox="1"/>
            <p:nvPr/>
          </p:nvSpPr>
          <p:spPr>
            <a:xfrm>
              <a:off x="541782" y="5897880"/>
              <a:ext cx="969753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最终形成统一的 Rust 工程表示，为上层 Agent 提供不同粒度的代码上下文。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7304" y="6376035"/>
            <a:ext cx="11099292" cy="234696"/>
            <a:chOff x="527304" y="6376035"/>
            <a:chExt cx="11099292" cy="234696"/>
          </a:xfrm>
        </p:grpSpPr>
        <p:sp>
          <p:nvSpPr>
            <p:cNvPr id="54" name="TextBox 54"/>
            <p:cNvSpPr txBox="1"/>
            <p:nvPr/>
          </p:nvSpPr>
          <p:spPr>
            <a:xfrm>
              <a:off x="527304" y="6376035"/>
              <a:ext cx="55270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方案示意：融合三类图谱关注的信息，具体节点与关系在 Schema 中统一定义</a:t>
              </a:r>
              <a:endPara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073232" y="6376035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04 / 11</a:t>
              </a:r>
              <a:endPara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18160" y="428625"/>
            <a:ext cx="7201300" cy="770572"/>
            <a:chOff x="518160" y="428625"/>
            <a:chExt cx="7201300" cy="770572"/>
          </a:xfrm>
        </p:grpSpPr>
        <p:sp>
          <p:nvSpPr>
            <p:cNvPr id="2" name="TextBox 2"/>
            <p:cNvSpPr txBox="1"/>
            <p:nvPr/>
          </p:nvSpPr>
          <p:spPr>
            <a:xfrm>
              <a:off x="518160" y="428625"/>
              <a:ext cx="720130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RA 提供源码语义，rustc 补充编译事实</a:t>
              </a:r>
              <a:endPara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44068" y="945832"/>
              <a:ext cx="12700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" name="ra"/>
          <p:cNvGrpSpPr/>
          <p:nvPr/>
        </p:nvGrpSpPr>
        <p:grpSpPr>
          <a:xfrm>
            <a:off x="571500" y="1666875"/>
            <a:ext cx="5219700" cy="2438400"/>
            <a:chOff x="571500" y="1666875"/>
            <a:chExt cx="5219700" cy="2438400"/>
          </a:xfrm>
        </p:grpSpPr>
        <p:sp>
          <p:nvSpPr>
            <p:cNvPr id="5" name="Rectangle 5"/>
            <p:cNvSpPr/>
            <p:nvPr/>
          </p:nvSpPr>
          <p:spPr>
            <a:xfrm>
              <a:off x="571500" y="1666875"/>
              <a:ext cx="5219700" cy="2438400"/>
            </a:xfrm>
            <a:prstGeom prst="roundRect">
              <a:avLst>
                <a:gd name="adj" fmla="val 4688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26008" y="1874520"/>
              <a:ext cx="236515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rust-analyzer</a:t>
              </a:r>
              <a:endParaRPr lang="en-US" sz="24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27532" y="2402205"/>
              <a:ext cx="317346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定义与引用 · 表达式类型</a:t>
              </a:r>
              <a:endParaRPr lang="zh-CN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27532" y="2830830"/>
              <a:ext cx="304624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trait / impl · 方法解析</a:t>
              </a:r>
              <a:endParaRPr lang="zh-CN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27532" y="3259455"/>
              <a:ext cx="232535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宏展开 · 源码映射</a:t>
              </a:r>
              <a:endParaRPr lang="zh-CN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29818" y="3727132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面向源码位置与工程上下文查询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8" name="rustc"/>
          <p:cNvGrpSpPr/>
          <p:nvPr/>
        </p:nvGrpSpPr>
        <p:grpSpPr>
          <a:xfrm>
            <a:off x="6362700" y="1666875"/>
            <a:ext cx="5219700" cy="2438400"/>
            <a:chOff x="6362700" y="1666875"/>
            <a:chExt cx="5219700" cy="2438400"/>
          </a:xfrm>
        </p:grpSpPr>
        <p:sp>
          <p:nvSpPr>
            <p:cNvPr id="12" name="Rectangle 12"/>
            <p:cNvSpPr/>
            <p:nvPr/>
          </p:nvSpPr>
          <p:spPr>
            <a:xfrm>
              <a:off x="6362700" y="1666875"/>
              <a:ext cx="5219700" cy="2438400"/>
            </a:xfrm>
            <a:prstGeom prst="roundRect">
              <a:avLst>
                <a:gd name="adj" fmla="val 4688"/>
              </a:avLst>
            </a:prstGeom>
            <a:solidFill>
              <a:srgbClr val="FFF3E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7208" y="1874520"/>
              <a:ext cx="95730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rustc</a:t>
              </a:r>
              <a:endParaRPr lang="en-US" sz="240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618732" y="2402205"/>
              <a:ext cx="317346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编译诊断 · 类型检查结果</a:t>
              </a:r>
              <a:endParaRPr lang="zh-CN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18732" y="2830830"/>
              <a:ext cx="330067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HIR / MIR · 基本块与操作</a:t>
              </a:r>
              <a:endParaRPr lang="zh-CN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18732" y="3259455"/>
              <a:ext cx="341376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相关检查结果（按需适配）</a:t>
              </a:r>
              <a:endParaRPr lang="zh-CN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1018" y="3727132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面向具体工具链与构建配置提取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1" name="links"/>
          <p:cNvGrpSpPr/>
          <p:nvPr/>
        </p:nvGrpSpPr>
        <p:grpSpPr>
          <a:xfrm>
            <a:off x="3181350" y="4229100"/>
            <a:ext cx="5791200" cy="409575"/>
            <a:chOff x="3181350" y="4229100"/>
            <a:chExt cx="5791200" cy="409575"/>
          </a:xfrm>
        </p:grpSpPr>
        <p:sp>
          <p:nvSpPr>
            <p:cNvPr id="19" name="Line 19"/>
            <p:cNvSpPr/>
            <p:nvPr/>
          </p:nvSpPr>
          <p:spPr>
            <a:xfrm>
              <a:off x="3181350" y="4229100"/>
              <a:ext cx="1819275" cy="40957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20" name="Line 20"/>
            <p:cNvSpPr/>
            <p:nvPr/>
          </p:nvSpPr>
          <p:spPr>
            <a:xfrm flipH="1">
              <a:off x="7153275" y="4229100"/>
              <a:ext cx="1819275" cy="40957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</p:grpSp>
      <p:grpSp>
        <p:nvGrpSpPr>
          <p:cNvPr id="25" name="own-work"/>
          <p:cNvGrpSpPr/>
          <p:nvPr/>
        </p:nvGrpSpPr>
        <p:grpSpPr>
          <a:xfrm>
            <a:off x="571500" y="4895850"/>
            <a:ext cx="11010900" cy="990600"/>
            <a:chOff x="571500" y="4895850"/>
            <a:chExt cx="11010900" cy="990600"/>
          </a:xfrm>
        </p:grpSpPr>
        <p:sp>
          <p:nvSpPr>
            <p:cNvPr id="22" name="Rectangle 22"/>
            <p:cNvSpPr/>
            <p:nvPr/>
          </p:nvSpPr>
          <p:spPr>
            <a:xfrm>
              <a:off x="571500" y="4895850"/>
              <a:ext cx="11010900" cy="990600"/>
            </a:xfrm>
            <a:prstGeom prst="roundRect">
              <a:avLst>
                <a:gd name="adj" fmla="val 11538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6770" y="5033962"/>
              <a:ext cx="6286500" cy="692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22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先以 </a:t>
              </a:r>
              <a:r>
                <a:rPr lang="en-US" altLang="zh-CN" sz="22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rust-analyzer </a:t>
              </a:r>
              <a:r>
                <a:rPr lang="zh-CN" altLang="en-US" sz="22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构建主体语义图谱</a:t>
              </a:r>
              <a:endParaRPr lang="zh-CN" altLang="en-US" sz="22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  <a:p>
              <a:pPr algn="l"/>
              <a:r>
                <a:rPr lang="zh-CN" altLang="en-US" sz="22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再结合 </a:t>
              </a:r>
              <a:r>
                <a:rPr lang="en-US" altLang="zh-CN" sz="22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rustc </a:t>
              </a:r>
              <a:r>
                <a:rPr lang="zh-CN" altLang="en-US" sz="22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补充关键编译事实与按需分析能力。</a:t>
              </a:r>
              <a:endParaRPr lang="zh-CN" altLang="en-US" sz="22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1073130" y="6328410"/>
            <a:ext cx="553085" cy="23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05 / 11</a:t>
            </a:r>
            <a:endParaRPr lang="zh-CN" sz="1200" dirty="0">
              <a:solidFill>
                <a:schemeClr val="accent5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18160" y="428625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整体构想：提取、关联、查询、应用</a:t>
            </a:r>
            <a:endParaRPr lang="zh-CN" sz="3000" b="1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8" name="takeaway"/>
          <p:cNvGrpSpPr/>
          <p:nvPr/>
        </p:nvGrpSpPr>
        <p:grpSpPr>
          <a:xfrm>
            <a:off x="663893" y="5928677"/>
            <a:ext cx="4888865" cy="253365"/>
            <a:chOff x="663893" y="5928677"/>
            <a:chExt cx="4888865" cy="253365"/>
          </a:xfrm>
        </p:grpSpPr>
        <p:sp>
          <p:nvSpPr>
            <p:cNvPr id="7" name="TextBox 7"/>
            <p:cNvSpPr txBox="1"/>
            <p:nvPr/>
          </p:nvSpPr>
          <p:spPr>
            <a:xfrm>
              <a:off x="663893" y="5928677"/>
              <a:ext cx="4888865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altLang="zh-C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Rust </a:t>
              </a:r>
              <a:r>
                <a:rPr lang="zh-CN" altLang="en-US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语义图谱 → 查询与分析接口 → </a:t>
              </a:r>
              <a:r>
                <a:rPr lang="en-US" altLang="zh-C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MCP </a:t>
              </a:r>
              <a:r>
                <a:rPr altLang="en-US" sz="1650" dirty="0">
                  <a:solidFill>
                    <a:schemeClr val="accent2"/>
                  </a:solidFill>
                  <a:sym typeface="+mn-ea"/>
                </a:rPr>
                <a:t>→</a:t>
              </a:r>
              <a:r>
                <a:rPr lang="en-US" altLang="zh-C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 </a:t>
              </a:r>
              <a:r>
                <a:rPr lang="zh-CN" altLang="en-US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 </a:t>
              </a:r>
              <a:r>
                <a:rPr lang="en-US" altLang="zh-C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Agent </a:t>
              </a:r>
              <a:endParaRPr lang="zh-CN" altLang="en-US" sz="165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1073130" y="6347460"/>
            <a:ext cx="553085" cy="23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06 / 11</a:t>
            </a:r>
            <a:endParaRPr lang="zh-CN" sz="1200" dirty="0">
              <a:solidFill>
                <a:schemeClr val="accent5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690" y="1010920"/>
            <a:ext cx="9972040" cy="45135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18160" y="428625"/>
            <a:ext cx="7499350" cy="770572"/>
            <a:chOff x="518160" y="428625"/>
            <a:chExt cx="7499350" cy="770572"/>
          </a:xfrm>
        </p:grpSpPr>
        <p:sp>
          <p:nvSpPr>
            <p:cNvPr id="2" name="TextBox 2"/>
            <p:cNvSpPr txBox="1"/>
            <p:nvPr/>
          </p:nvSpPr>
          <p:spPr>
            <a:xfrm>
              <a:off x="518160" y="428625"/>
              <a:ext cx="7499350" cy="461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RA 作为库：</a:t>
              </a:r>
              <a:r>
                <a:rPr lang="zh-CN" altLang="en-US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提供工程、语法与语义查询能力</a:t>
              </a:r>
              <a:endParaRPr lang="zh-CN" altLang="en-US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44068" y="945832"/>
              <a:ext cx="7116445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直接在 </a:t>
              </a:r>
              <a:r>
                <a:rPr lang="en-US" alt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Rust </a:t>
              </a:r>
              <a:r>
                <a:rPr lang="zh-CN" alt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程序中复用 </a:t>
              </a:r>
              <a:r>
                <a:rPr lang="en-US" alt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rust-analyzer </a:t>
              </a:r>
              <a:r>
                <a:rPr lang="zh-CN" alt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的分析能力，为主体语义图谱提供数据</a:t>
              </a:r>
              <a:endParaRPr lang="zh-CN" alt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0" name="library-architecture"/>
          <p:cNvGrpSpPr/>
          <p:nvPr/>
        </p:nvGrpSpPr>
        <p:grpSpPr>
          <a:xfrm>
            <a:off x="571500" y="1638300"/>
            <a:ext cx="10953750" cy="3467100"/>
            <a:chOff x="571500" y="1638300"/>
            <a:chExt cx="10953750" cy="3467100"/>
          </a:xfrm>
        </p:grpSpPr>
        <p:sp>
          <p:nvSpPr>
            <p:cNvPr id="5" name="Rectangle 5"/>
            <p:cNvSpPr/>
            <p:nvPr/>
          </p:nvSpPr>
          <p:spPr>
            <a:xfrm>
              <a:off x="571500" y="1638300"/>
              <a:ext cx="3190875" cy="1600200"/>
            </a:xfrm>
            <a:prstGeom prst="roundRect">
              <a:avLst>
                <a:gd name="adj" fmla="val 714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70382" y="1840230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工程加载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72668" y="2317432"/>
              <a:ext cx="227131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ra_ap_project_model</a:t>
              </a:r>
              <a:endParaRPr lang="en-US" sz="165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72668" y="2707958"/>
              <a:ext cx="25233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Cargo 模型 · crate 依赖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Rectangle 9"/>
            <p:cNvSpPr/>
            <p:nvPr/>
          </p:nvSpPr>
          <p:spPr>
            <a:xfrm>
              <a:off x="571500" y="3505200"/>
              <a:ext cx="3190875" cy="1600200"/>
            </a:xfrm>
            <a:prstGeom prst="roundRect">
              <a:avLst>
                <a:gd name="adj" fmla="val 714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0382" y="3707130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源码输入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2668" y="4184332"/>
              <a:ext cx="11162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ra_ap_vfs</a:t>
              </a:r>
              <a:endParaRPr lang="en-US" sz="165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2668" y="4574858"/>
              <a:ext cx="20491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文件标识 · 内容映射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Line 13"/>
            <p:cNvSpPr/>
            <p:nvPr/>
          </p:nvSpPr>
          <p:spPr>
            <a:xfrm>
              <a:off x="3857625" y="2428875"/>
              <a:ext cx="419100" cy="419100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14" name="Line 14"/>
            <p:cNvSpPr/>
            <p:nvPr/>
          </p:nvSpPr>
          <p:spPr>
            <a:xfrm flipV="1">
              <a:off x="3857625" y="3886200"/>
              <a:ext cx="419100" cy="42862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15" name="Rectangle 15"/>
            <p:cNvSpPr/>
            <p:nvPr/>
          </p:nvSpPr>
          <p:spPr>
            <a:xfrm>
              <a:off x="4429125" y="1638300"/>
              <a:ext cx="3190875" cy="1600200"/>
            </a:xfrm>
            <a:prstGeom prst="roundRect">
              <a:avLst>
                <a:gd name="adj" fmla="val 7143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628007" y="1840230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语法结构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30293" y="2317432"/>
              <a:ext cx="14827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ra_ap_syntax</a:t>
              </a:r>
              <a:endParaRPr lang="en-US" sz="165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30293" y="2707958"/>
              <a:ext cx="251753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AST · 字段 · 签名 · 位置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429125" y="3505200"/>
              <a:ext cx="3190875" cy="1600200"/>
            </a:xfrm>
            <a:prstGeom prst="roundRect">
              <a:avLst>
                <a:gd name="adj" fmla="val 7143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28007" y="3707130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语义模型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630293" y="4184332"/>
              <a:ext cx="241303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ra_ap_hir / Semantics</a:t>
              </a:r>
              <a:endParaRPr lang="en-US" sz="165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30293" y="4574858"/>
              <a:ext cx="25378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定义 · 类型 · impl · 解析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Line 23"/>
            <p:cNvSpPr/>
            <p:nvPr/>
          </p:nvSpPr>
          <p:spPr>
            <a:xfrm>
              <a:off x="7715250" y="2428875"/>
              <a:ext cx="428625" cy="40957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24" name="Line 24"/>
            <p:cNvSpPr/>
            <p:nvPr/>
          </p:nvSpPr>
          <p:spPr>
            <a:xfrm flipV="1">
              <a:off x="7715250" y="3905250"/>
              <a:ext cx="428625" cy="40957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25" name="Rectangle 25"/>
            <p:cNvSpPr/>
            <p:nvPr/>
          </p:nvSpPr>
          <p:spPr>
            <a:xfrm>
              <a:off x="8315325" y="2143125"/>
              <a:ext cx="3209925" cy="2438400"/>
            </a:xfrm>
            <a:prstGeom prst="roundRect">
              <a:avLst>
                <a:gd name="adj" fmla="val 4688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533257" y="2421255"/>
              <a:ext cx="168533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IDE 查询入口</a:t>
              </a:r>
              <a:endParaRPr lang="zh-CN" sz="21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535543" y="2946082"/>
              <a:ext cx="10607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2CDD1"/>
                  </a:solidFill>
                  <a:latin typeface="+mn-lt"/>
                  <a:ea typeface="+mn-ea"/>
                  <a:cs typeface="+mn-cs"/>
                </a:rPr>
                <a:t>ra_ap_ide</a:t>
              </a:r>
              <a:endParaRPr lang="en-US" sz="1650" dirty="0">
                <a:solidFill>
                  <a:srgbClr val="72CDD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535543" y="3365182"/>
              <a:ext cx="251446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AnalysisHost / Analysis</a:t>
              </a:r>
              <a:endParaRPr lang="en-US" sz="165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535543" y="3812858"/>
              <a:ext cx="230463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结构 · 引用 · 调用层级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2" name="boundary"/>
          <p:cNvGrpSpPr/>
          <p:nvPr/>
        </p:nvGrpSpPr>
        <p:grpSpPr>
          <a:xfrm>
            <a:off x="571627" y="5707380"/>
            <a:ext cx="7200900" cy="645795"/>
            <a:chOff x="673862" y="5707380"/>
            <a:chExt cx="7200900" cy="645795"/>
          </a:xfrm>
        </p:grpSpPr>
        <p:sp>
          <p:nvSpPr>
            <p:cNvPr id="31" name="TextBox 31"/>
            <p:cNvSpPr txBox="1"/>
            <p:nvPr/>
          </p:nvSpPr>
          <p:spPr>
            <a:xfrm>
              <a:off x="673862" y="5707380"/>
              <a:ext cx="7200900" cy="6457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RA </a:t>
              </a:r>
              <a:r>
                <a:rPr lang="zh-CN" altLang="en-US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负责提供工程、语法和语义分析结果；</a:t>
              </a:r>
              <a:endParaRPr lang="zh-CN" altLang="en-US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  <a:p>
              <a:pPr algn="l"/>
              <a:r>
                <a:rPr lang="zh-CN" altLang="en-US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我们负责将这些结果转换为图谱中的节点、关系并进行存储。</a:t>
              </a:r>
              <a:endParaRPr lang="zh-CN" altLang="en-US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18160" y="428625"/>
            <a:ext cx="9066530" cy="839914"/>
            <a:chOff x="518160" y="428625"/>
            <a:chExt cx="9066530" cy="839914"/>
          </a:xfrm>
        </p:grpSpPr>
        <p:sp>
          <p:nvSpPr>
            <p:cNvPr id="2" name="TextBox 2"/>
            <p:cNvSpPr txBox="1"/>
            <p:nvPr/>
          </p:nvSpPr>
          <p:spPr>
            <a:xfrm>
              <a:off x="518160" y="428625"/>
              <a:ext cx="9066530" cy="461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RA </a:t>
              </a:r>
              <a:r>
                <a:rPr lang="zh-CN" altLang="en-US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构图的可行性：定位实体 → 解析语义 → 生成图谱</a:t>
              </a:r>
              <a:endParaRPr lang="zh-CN" altLang="en-US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44068" y="945832"/>
              <a:ext cx="5027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file_structure 是初始入口，AST 与语义查询配合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4" name="extraction-flow"/>
          <p:cNvGrpSpPr/>
          <p:nvPr/>
        </p:nvGrpSpPr>
        <p:grpSpPr>
          <a:xfrm>
            <a:off x="571500" y="1762125"/>
            <a:ext cx="11010900" cy="1752600"/>
            <a:chOff x="571500" y="1762125"/>
            <a:chExt cx="11010900" cy="1752600"/>
          </a:xfrm>
        </p:grpSpPr>
        <p:sp>
          <p:nvSpPr>
            <p:cNvPr id="5" name="Rectangle 5"/>
            <p:cNvSpPr/>
            <p:nvPr/>
          </p:nvSpPr>
          <p:spPr>
            <a:xfrm>
              <a:off x="571500" y="1762125"/>
              <a:ext cx="1905000" cy="1752600"/>
            </a:xfrm>
            <a:prstGeom prst="roundRect">
              <a:avLst>
                <a:gd name="adj" fmla="val 543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53618" y="1917382"/>
              <a:ext cx="9607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01 / 加载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51332" y="2306955"/>
              <a:ext cx="15023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Cargo 工程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3618" y="280320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文件与配置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53618" y="310800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分析数据库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Line 10"/>
            <p:cNvSpPr/>
            <p:nvPr/>
          </p:nvSpPr>
          <p:spPr>
            <a:xfrm>
              <a:off x="2571750" y="2628900"/>
              <a:ext cx="209550" cy="1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11" name="Rectangle 11"/>
            <p:cNvSpPr/>
            <p:nvPr/>
          </p:nvSpPr>
          <p:spPr>
            <a:xfrm>
              <a:off x="2857500" y="1762125"/>
              <a:ext cx="1905000" cy="1752600"/>
            </a:xfrm>
            <a:prstGeom prst="roundRect">
              <a:avLst>
                <a:gd name="adj" fmla="val 543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039618" y="1917382"/>
              <a:ext cx="9607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02 / 定位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37332" y="230695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符号列表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001518" y="2803208"/>
              <a:ext cx="16160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file_structure</a:t>
              </a:r>
              <a:endParaRPr lang="en-US" sz="165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39618" y="310800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种类与范围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Line 16"/>
            <p:cNvSpPr/>
            <p:nvPr/>
          </p:nvSpPr>
          <p:spPr>
            <a:xfrm>
              <a:off x="4857750" y="2628900"/>
              <a:ext cx="209550" cy="1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143500" y="1762125"/>
              <a:ext cx="1905000" cy="1752600"/>
            </a:xfrm>
            <a:prstGeom prst="roundRect">
              <a:avLst>
                <a:gd name="adj" fmla="val 543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325618" y="1917382"/>
              <a:ext cx="9607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03 / 补充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323332" y="2306955"/>
              <a:ext cx="119833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AST 细节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325618" y="280320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字段与签名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5618" y="3108008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调用与引用位置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Line 22"/>
            <p:cNvSpPr/>
            <p:nvPr/>
          </p:nvSpPr>
          <p:spPr>
            <a:xfrm>
              <a:off x="7143750" y="2628900"/>
              <a:ext cx="209550" cy="1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429500" y="1762125"/>
              <a:ext cx="1905000" cy="1752600"/>
            </a:xfrm>
            <a:prstGeom prst="roundRect">
              <a:avLst>
                <a:gd name="adj" fmla="val 5435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11618" y="1917382"/>
              <a:ext cx="9607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 / 解析</a:t>
              </a:r>
              <a:endParaRPr lang="zh-CN" sz="165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09332" y="230695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语义查询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11618" y="280320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类型与定义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11618" y="3108008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调用目标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Line 28"/>
            <p:cNvSpPr/>
            <p:nvPr/>
          </p:nvSpPr>
          <p:spPr>
            <a:xfrm>
              <a:off x="9429750" y="2628900"/>
              <a:ext cx="209550" cy="1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29" name="Rectangle 29"/>
            <p:cNvSpPr/>
            <p:nvPr/>
          </p:nvSpPr>
          <p:spPr>
            <a:xfrm>
              <a:off x="9715500" y="1762125"/>
              <a:ext cx="1866900" cy="1752600"/>
            </a:xfrm>
            <a:prstGeom prst="roundRect">
              <a:avLst>
                <a:gd name="adj" fmla="val 543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897618" y="1917382"/>
              <a:ext cx="9607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05 / 构图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895332" y="230695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统一映射</a:t>
              </a:r>
              <a:endParaRPr lang="zh-CN" sz="21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897618" y="2803208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节点与边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897618" y="310800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存储与索引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2" name="example"/>
          <p:cNvGrpSpPr/>
          <p:nvPr/>
        </p:nvGrpSpPr>
        <p:grpSpPr>
          <a:xfrm>
            <a:off x="571500" y="4067175"/>
            <a:ext cx="11010900" cy="1285875"/>
            <a:chOff x="571500" y="4067175"/>
            <a:chExt cx="11010900" cy="1285875"/>
          </a:xfrm>
        </p:grpSpPr>
        <p:sp>
          <p:nvSpPr>
            <p:cNvPr id="35" name="Rectangle 35"/>
            <p:cNvSpPr/>
            <p:nvPr/>
          </p:nvSpPr>
          <p:spPr>
            <a:xfrm>
              <a:off x="571500" y="4067175"/>
              <a:ext cx="11010900" cy="1285875"/>
            </a:xfrm>
            <a:prstGeom prst="roundRect">
              <a:avLst>
                <a:gd name="adj" fmla="val 888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10768" y="4270058"/>
              <a:ext cx="24601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一个调用点如何进入图谱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08482" y="4697730"/>
              <a:ext cx="204265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storage.get()</a:t>
              </a:r>
              <a:endParaRPr lang="en-US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8" name="Line 38"/>
            <p:cNvSpPr/>
            <p:nvPr/>
          </p:nvSpPr>
          <p:spPr>
            <a:xfrm>
              <a:off x="2962275" y="4829175"/>
              <a:ext cx="752475" cy="1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3951732" y="4697730"/>
              <a:ext cx="341376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查询接收者类型与目标定义</a:t>
              </a:r>
              <a:endParaRPr lang="zh-CN" sz="210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0" name="Line 40"/>
            <p:cNvSpPr/>
            <p:nvPr/>
          </p:nvSpPr>
          <p:spPr>
            <a:xfrm>
              <a:off x="7543800" y="4829175"/>
              <a:ext cx="571500" cy="1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61807" y="4697730"/>
              <a:ext cx="257837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CallSite → Function</a:t>
              </a:r>
              <a:endParaRPr lang="en-US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4" name="boundary"/>
          <p:cNvGrpSpPr/>
          <p:nvPr/>
        </p:nvGrpSpPr>
        <p:grpSpPr>
          <a:xfrm>
            <a:off x="595503" y="5768657"/>
            <a:ext cx="9848850" cy="507365"/>
            <a:chOff x="563118" y="5746432"/>
            <a:chExt cx="9848850" cy="507365"/>
          </a:xfrm>
        </p:grpSpPr>
        <p:sp>
          <p:nvSpPr>
            <p:cNvPr id="43" name="TextBox 43"/>
            <p:cNvSpPr txBox="1"/>
            <p:nvPr/>
          </p:nvSpPr>
          <p:spPr>
            <a:xfrm>
              <a:off x="563118" y="5746432"/>
              <a:ext cx="9848850" cy="507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调用目标无法确定时保留“未解析”；泛型调用根据具体类型上下文解析，动态分发保留可能的调用目标。</a:t>
              </a:r>
              <a:endParaRPr lang="zh-CN" altLang="en-US" sz="1650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  <a:p>
              <a:pPr algn="l"/>
              <a:r>
                <a:rPr lang="zh-CN" altLang="en-US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数据流、所有权及 </a:t>
              </a:r>
              <a:r>
                <a:rPr lang="en-US" altLang="zh-CN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Unsafe </a:t>
              </a:r>
              <a:r>
                <a:rPr lang="zh-CN" altLang="en-US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路径等信息，仍需在</a:t>
              </a:r>
              <a:r>
                <a:rPr lang="en-US" altLang="zh-CN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MIR </a:t>
              </a:r>
              <a:r>
                <a:rPr lang="zh-CN" altLang="en-US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基础上进一步分析。</a:t>
              </a:r>
              <a:endParaRPr lang="zh-CN" altLang="en-US" sz="1650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11073130" y="6328410"/>
            <a:ext cx="553085" cy="23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08 / 11</a:t>
            </a:r>
            <a:endParaRPr lang="zh-CN" sz="1200" dirty="0">
              <a:solidFill>
                <a:schemeClr val="accent5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18160" y="428625"/>
            <a:ext cx="6312408" cy="770572"/>
            <a:chOff x="518160" y="428625"/>
            <a:chExt cx="6312408" cy="770572"/>
          </a:xfrm>
        </p:grpSpPr>
        <p:sp>
          <p:nvSpPr>
            <p:cNvPr id="2" name="TextBox 2"/>
            <p:cNvSpPr txBox="1"/>
            <p:nvPr/>
          </p:nvSpPr>
          <p:spPr>
            <a:xfrm>
              <a:off x="518160" y="428625"/>
              <a:ext cx="6033770" cy="461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图谱</a:t>
              </a:r>
              <a:r>
                <a:rPr lang="en-US" alt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Schema：</a:t>
              </a:r>
              <a:r>
                <a:rPr lang="zh-CN" altLang="en-US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节点与关系如何组织</a:t>
              </a:r>
              <a:endParaRPr lang="zh-CN" altLang="en-US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44068" y="945832"/>
              <a:ext cx="628650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主体图谱覆盖工程、定义与使用关系；分析事实按下游需求逐步扩展</a:t>
              </a:r>
              <a:endParaRPr lang="zh-CN" alt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4" name="layered-schema"/>
          <p:cNvGrpSpPr/>
          <p:nvPr/>
        </p:nvGrpSpPr>
        <p:grpSpPr>
          <a:xfrm>
            <a:off x="571500" y="1581150"/>
            <a:ext cx="11010900" cy="3952875"/>
            <a:chOff x="571500" y="1581150"/>
            <a:chExt cx="11010900" cy="3952875"/>
          </a:xfrm>
        </p:grpSpPr>
        <p:sp>
          <p:nvSpPr>
            <p:cNvPr id="5" name="Rectangle 5"/>
            <p:cNvSpPr/>
            <p:nvPr/>
          </p:nvSpPr>
          <p:spPr>
            <a:xfrm>
              <a:off x="571500" y="1581150"/>
              <a:ext cx="11010900" cy="819150"/>
            </a:xfrm>
            <a:prstGeom prst="roundRect">
              <a:avLst>
                <a:gd name="adj" fmla="val 9302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70382" y="1687830"/>
              <a:ext cx="386080" cy="3225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L0 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846832" y="1687830"/>
              <a:ext cx="467285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Workspace · Crate · Module · File</a:t>
              </a:r>
              <a:endParaRPr lang="en-US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849118" y="2079308"/>
              <a:ext cx="236113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Contains / DependsOn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Line 9"/>
            <p:cNvSpPr/>
            <p:nvPr/>
          </p:nvSpPr>
          <p:spPr>
            <a:xfrm>
              <a:off x="1447800" y="2447925"/>
              <a:ext cx="1" cy="14287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71500" y="2676525"/>
              <a:ext cx="11010900" cy="819150"/>
            </a:xfrm>
            <a:prstGeom prst="roundRect">
              <a:avLst>
                <a:gd name="adj" fmla="val 9302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70382" y="2783205"/>
              <a:ext cx="386080" cy="3225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L1 </a:t>
              </a:r>
              <a:endParaRPr lang="zh-CN" sz="21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846832" y="2783205"/>
              <a:ext cx="54061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Function · Struct / Enum · Trait · Impl</a:t>
              </a:r>
              <a:endParaRPr lang="en-US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849118" y="3174682"/>
              <a:ext cx="365769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Contains / Implements / UsesType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Line 14"/>
            <p:cNvSpPr/>
            <p:nvPr/>
          </p:nvSpPr>
          <p:spPr>
            <a:xfrm>
              <a:off x="1447800" y="3543300"/>
              <a:ext cx="1" cy="14287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71500" y="3771900"/>
              <a:ext cx="11010900" cy="819150"/>
            </a:xfrm>
            <a:prstGeom prst="roundRect">
              <a:avLst>
                <a:gd name="adj" fmla="val 9302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70382" y="3878580"/>
              <a:ext cx="386080" cy="3225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L2 </a:t>
              </a:r>
              <a:endParaRPr lang="zh-CN" sz="21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846832" y="3878580"/>
              <a:ext cx="534953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CallSite · Reference（可先作关系记录）</a:t>
              </a:r>
              <a:endParaRPr lang="zh-CN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849118" y="4270058"/>
              <a:ext cx="5792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Function → CallSite → Target；References → Definition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Line 19"/>
            <p:cNvSpPr/>
            <p:nvPr/>
          </p:nvSpPr>
          <p:spPr>
            <a:xfrm>
              <a:off x="1447800" y="4638675"/>
              <a:ext cx="1" cy="14287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custDash>
                <a:ds d="200000" sp="150000"/>
              </a:custDash>
              <a:tailEnd type="triangle" w="lg" len="lg"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71500" y="4867275"/>
              <a:ext cx="11010900" cy="666750"/>
            </a:xfrm>
            <a:prstGeom prst="roundRect">
              <a:avLst>
                <a:gd name="adj" fmla="val 11429"/>
              </a:avLst>
            </a:prstGeom>
            <a:solidFill>
              <a:srgbClr val="FFF3E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70382" y="4954905"/>
              <a:ext cx="386080" cy="3225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L3 </a:t>
              </a:r>
              <a:endParaRPr lang="zh-CN" sz="210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846832" y="4954905"/>
              <a:ext cx="492177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BasicBlock · Operation · Diagnostic</a:t>
              </a:r>
              <a:endParaRPr lang="en-US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49118" y="5270182"/>
              <a:ext cx="3227705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ControlFlow / DataFlow；按需扩展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6" name="evidence"/>
          <p:cNvGrpSpPr/>
          <p:nvPr/>
        </p:nvGrpSpPr>
        <p:grpSpPr>
          <a:xfrm>
            <a:off x="582168" y="5832158"/>
            <a:ext cx="8382000" cy="253365"/>
            <a:chOff x="582168" y="5832158"/>
            <a:chExt cx="8382000" cy="253365"/>
          </a:xfrm>
        </p:grpSpPr>
        <p:sp>
          <p:nvSpPr>
            <p:cNvPr id="25" name="TextBox 25"/>
            <p:cNvSpPr txBox="1"/>
            <p:nvPr/>
          </p:nvSpPr>
          <p:spPr>
            <a:xfrm>
              <a:off x="582168" y="5832158"/>
              <a:ext cx="838200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源码位置、分析来源、解析状态等信息作为节点或关系的属性保存，用于结果追溯与解释。</a:t>
              </a:r>
              <a:endParaRPr lang="zh-CN" altLang="en-US" sz="165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073130" y="6328410"/>
            <a:ext cx="553085" cy="23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09 / 11</a:t>
            </a:r>
            <a:endParaRPr lang="zh-CN" sz="1200" dirty="0">
              <a:solidFill>
                <a:schemeClr val="accent5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18160" y="428625"/>
            <a:ext cx="7352030" cy="886142"/>
            <a:chOff x="518160" y="428625"/>
            <a:chExt cx="7352030" cy="886142"/>
          </a:xfrm>
        </p:grpSpPr>
        <p:sp>
          <p:nvSpPr>
            <p:cNvPr id="2" name="TextBox 2"/>
            <p:cNvSpPr txBox="1"/>
            <p:nvPr/>
          </p:nvSpPr>
          <p:spPr>
            <a:xfrm>
              <a:off x="518160" y="428625"/>
              <a:ext cx="7352030" cy="461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MCP：</a:t>
              </a:r>
              <a:r>
                <a:rPr lang="zh-CN" altLang="en-US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将图谱查询与分析能力暴露给 </a:t>
              </a:r>
              <a:r>
                <a:rPr lang="en-US" alt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Agent</a:t>
              </a:r>
              <a:endParaRPr lang="en-US" alt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44068" y="945832"/>
              <a:ext cx="3211830" cy="3689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altLang="en-US" sz="24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</a:t>
              </a:r>
              <a:r>
                <a:rPr lang="en-US" altLang="zh-CN" sz="24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 ---&gt;MCP ---&gt;Agent</a:t>
              </a:r>
              <a:endParaRPr altLang="en-US" sz="24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1" name="mcp-service-diagram"/>
          <p:cNvGrpSpPr/>
          <p:nvPr/>
        </p:nvGrpSpPr>
        <p:grpSpPr>
          <a:xfrm>
            <a:off x="571500" y="1647825"/>
            <a:ext cx="10953750" cy="3676650"/>
            <a:chOff x="571500" y="1647825"/>
            <a:chExt cx="10953750" cy="3676650"/>
          </a:xfrm>
        </p:grpSpPr>
        <p:sp>
          <p:nvSpPr>
            <p:cNvPr id="5" name="Rectangle 5"/>
            <p:cNvSpPr/>
            <p:nvPr/>
          </p:nvSpPr>
          <p:spPr>
            <a:xfrm>
              <a:off x="571500" y="2228850"/>
              <a:ext cx="3829050" cy="2552700"/>
            </a:xfrm>
            <a:prstGeom prst="roundRect">
              <a:avLst>
                <a:gd name="adj" fmla="val 4478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06958" y="2436495"/>
              <a:ext cx="191976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MCP Server</a:t>
              </a:r>
              <a:endParaRPr lang="en-US" sz="24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10768" y="2898458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统一图谱查询服务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08482" y="3373755"/>
              <a:ext cx="156206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get_symbol</a:t>
              </a:r>
              <a:endParaRPr lang="en-US" sz="21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08482" y="3792855"/>
              <a:ext cx="197198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get_type_info</a:t>
              </a:r>
              <a:endParaRPr lang="en-US" sz="21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08482" y="4211955"/>
              <a:ext cx="348443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get_callers / get_callees</a:t>
              </a:r>
              <a:endParaRPr lang="en-US" sz="21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Line 11"/>
            <p:cNvSpPr/>
            <p:nvPr/>
          </p:nvSpPr>
          <p:spPr>
            <a:xfrm flipV="1">
              <a:off x="4533900" y="2457450"/>
              <a:ext cx="1085850" cy="46672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12" name="Line 12"/>
            <p:cNvSpPr/>
            <p:nvPr/>
          </p:nvSpPr>
          <p:spPr>
            <a:xfrm>
              <a:off x="4533900" y="4019550"/>
              <a:ext cx="1085850" cy="457200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819775" y="1647825"/>
              <a:ext cx="5705475" cy="1685925"/>
            </a:xfrm>
            <a:prstGeom prst="roundRect">
              <a:avLst>
                <a:gd name="adj" fmla="val 6780"/>
              </a:avLst>
            </a:prstGeom>
            <a:solidFill>
              <a:srgbClr val="FFF3E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055995" y="1833562"/>
              <a:ext cx="2063197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Unsafe Agent</a:t>
              </a:r>
              <a:endParaRPr lang="en-US" sz="225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056757" y="2278380"/>
              <a:ext cx="402156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危险操作定位 · 路径与证据复核</a:t>
              </a:r>
              <a:endParaRPr lang="zh-CN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059043" y="2755582"/>
              <a:ext cx="46702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find_unsafe_operations / trace_data_flow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819775" y="3638550"/>
              <a:ext cx="5705475" cy="1685925"/>
            </a:xfrm>
            <a:prstGeom prst="roundRect">
              <a:avLst>
                <a:gd name="adj" fmla="val 6780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055995" y="3824288"/>
              <a:ext cx="2157777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Fuzzing Agent</a:t>
              </a:r>
              <a:endParaRPr lang="en-US" sz="22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056757" y="4269105"/>
              <a:ext cx="317346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候选入口 · 输入构造信息</a:t>
              </a:r>
              <a:endParaRPr lang="zh-CN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059043" y="4746308"/>
              <a:ext cx="49145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find_fuzz_targets / get_input_requirements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3" name="contract"/>
          <p:cNvGrpSpPr/>
          <p:nvPr/>
        </p:nvGrpSpPr>
        <p:grpSpPr>
          <a:xfrm>
            <a:off x="563118" y="5755958"/>
            <a:ext cx="4819650" cy="253365"/>
            <a:chOff x="563118" y="5755958"/>
            <a:chExt cx="4819650" cy="253365"/>
          </a:xfrm>
        </p:grpSpPr>
        <p:sp>
          <p:nvSpPr>
            <p:cNvPr id="22" name="TextBox 22"/>
            <p:cNvSpPr txBox="1"/>
            <p:nvPr/>
          </p:nvSpPr>
          <p:spPr>
            <a:xfrm>
              <a:off x="563118" y="5755958"/>
              <a:ext cx="481965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分析结果应至少保留源码位置、分析来源和解析状态</a:t>
              </a:r>
              <a:endParaRPr lang="zh-CN" altLang="en-US" sz="165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1073130" y="6328410"/>
            <a:ext cx="553085" cy="23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10 / 11</a:t>
            </a:r>
            <a:endParaRPr lang="zh-CN" sz="1200" dirty="0">
              <a:solidFill>
                <a:schemeClr val="accent5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18160" y="428625"/>
            <a:ext cx="1524000" cy="4616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  <a:endParaRPr lang="zh-CN" sz="3000" b="1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14" name="build"/>
          <p:cNvGrpSpPr/>
          <p:nvPr/>
        </p:nvGrpSpPr>
        <p:grpSpPr>
          <a:xfrm>
            <a:off x="533400" y="1859280"/>
            <a:ext cx="3505200" cy="3333750"/>
            <a:chOff x="533400" y="1619250"/>
            <a:chExt cx="3505200" cy="3333750"/>
          </a:xfrm>
        </p:grpSpPr>
        <p:sp>
          <p:nvSpPr>
            <p:cNvPr id="5" name="Rectangle 5"/>
            <p:cNvSpPr/>
            <p:nvPr/>
          </p:nvSpPr>
          <p:spPr>
            <a:xfrm>
              <a:off x="533400" y="1619250"/>
              <a:ext cx="3505200" cy="3333750"/>
            </a:xfrm>
            <a:prstGeom prst="roundRect">
              <a:avLst>
                <a:gd name="adj" fmla="val 3429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53618" y="1850708"/>
              <a:ext cx="20503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　图谱构建与更新</a:t>
              </a:r>
              <a:endParaRPr lang="zh-CN" sz="16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53618" y="2326958"/>
              <a:ext cx="16577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加载 Cargo 工程</a:t>
              </a:r>
              <a:endParaRPr lang="zh-CN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3618" y="2691447"/>
              <a:ext cx="1711960" cy="507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RA </a:t>
              </a:r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构建主体图谱</a:t>
              </a:r>
              <a:endParaRPr lang="zh-CN" altLang="en-US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algn="l"/>
              <a:r>
                <a:rPr lang="en-US" alt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rustc</a:t>
              </a:r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补充编译事实</a:t>
              </a:r>
              <a:endParaRPr lang="zh-CN" altLang="en-US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53618" y="3344228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保存实体、关系与源码位置</a:t>
              </a:r>
              <a:endParaRPr lang="zh-CN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3872" y="3813175"/>
              <a:ext cx="83820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增量更新</a:t>
              </a:r>
              <a:endParaRPr lang="zh-CN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3" name="query"/>
          <p:cNvGrpSpPr/>
          <p:nvPr/>
        </p:nvGrpSpPr>
        <p:grpSpPr>
          <a:xfrm>
            <a:off x="4343400" y="1859280"/>
            <a:ext cx="3505200" cy="3333750"/>
            <a:chOff x="4343400" y="1619250"/>
            <a:chExt cx="3505200" cy="3333750"/>
          </a:xfrm>
        </p:grpSpPr>
        <p:sp>
          <p:nvSpPr>
            <p:cNvPr id="15" name="Rectangle 15"/>
            <p:cNvSpPr/>
            <p:nvPr/>
          </p:nvSpPr>
          <p:spPr>
            <a:xfrm>
              <a:off x="4343400" y="1619250"/>
              <a:ext cx="3505200" cy="3333750"/>
            </a:xfrm>
            <a:prstGeom prst="roundRect">
              <a:avLst>
                <a:gd name="adj" fmla="val 3429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63618" y="1850708"/>
              <a:ext cx="20503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　图谱查询与分析</a:t>
              </a:r>
              <a:endParaRPr lang="zh-CN" sz="16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63618" y="2374582"/>
              <a:ext cx="221787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工程结构 · API · 类型</a:t>
              </a:r>
              <a:endParaRPr lang="zh-CN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63618" y="2784158"/>
              <a:ext cx="165354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调用关系</a:t>
              </a:r>
              <a:r>
                <a:rPr lang="en-US" alt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 </a:t>
              </a:r>
              <a:r>
                <a:rPr sz="1650" dirty="0">
                  <a:solidFill>
                    <a:schemeClr val="dk1"/>
                  </a:solidFill>
                  <a:sym typeface="+mn-ea"/>
                </a:rPr>
                <a:t>· </a:t>
              </a:r>
              <a:r>
                <a:rPr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控制流</a:t>
              </a:r>
              <a:endParaRPr altLang="en-US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563618" y="3193732"/>
              <a:ext cx="192151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调用路径 · 依赖传播</a:t>
              </a:r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zh-CN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63618" y="3879532"/>
              <a:ext cx="24254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服务 Unsafe / Fuzzing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63618" y="4260532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提供代码上下文与分析依据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2" name="entry"/>
          <p:cNvGrpSpPr/>
          <p:nvPr/>
        </p:nvGrpSpPr>
        <p:grpSpPr>
          <a:xfrm>
            <a:off x="8153400" y="1859280"/>
            <a:ext cx="3505200" cy="3333750"/>
            <a:chOff x="8153400" y="1619250"/>
            <a:chExt cx="3505200" cy="3333750"/>
          </a:xfrm>
        </p:grpSpPr>
        <p:sp>
          <p:nvSpPr>
            <p:cNvPr id="24" name="Rectangle 24"/>
            <p:cNvSpPr/>
            <p:nvPr/>
          </p:nvSpPr>
          <p:spPr>
            <a:xfrm>
              <a:off x="8153400" y="1619250"/>
              <a:ext cx="3505200" cy="3333750"/>
            </a:xfrm>
            <a:prstGeom prst="roundRect">
              <a:avLst>
                <a:gd name="adj" fmla="val 3429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73618" y="1850708"/>
              <a:ext cx="28404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　使用入口与 Agent 接入</a:t>
              </a:r>
              <a:endParaRPr lang="zh-CN" sz="16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71332" y="2297430"/>
              <a:ext cx="46043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CLI</a:t>
              </a:r>
              <a:endParaRPr lang="en-US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73618" y="2669858"/>
              <a:ext cx="278219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初始化 · 构建 · 更新 · 查询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71332" y="3097530"/>
              <a:ext cx="167979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MCP Server</a:t>
              </a:r>
              <a:endParaRPr lang="en-US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73618" y="3469958"/>
              <a:ext cx="25462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封装 Agent 可调用的工具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71332" y="3897630"/>
              <a:ext cx="62173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Skill</a:t>
              </a:r>
              <a:endParaRPr lang="en-US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73618" y="4270058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指导何时查、怎样查与使用结果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4" name="closing"/>
          <p:cNvGrpSpPr/>
          <p:nvPr/>
        </p:nvGrpSpPr>
        <p:grpSpPr>
          <a:xfrm>
            <a:off x="517843" y="1310005"/>
            <a:ext cx="8659495" cy="322580"/>
            <a:chOff x="1766253" y="5497830"/>
            <a:chExt cx="8659495" cy="322580"/>
          </a:xfrm>
        </p:grpSpPr>
        <p:sp>
          <p:nvSpPr>
            <p:cNvPr id="33" name="TextBox 33"/>
            <p:cNvSpPr txBox="1"/>
            <p:nvPr/>
          </p:nvSpPr>
          <p:spPr>
            <a:xfrm>
              <a:off x="1766253" y="5497830"/>
              <a:ext cx="8659495" cy="3225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altLang="en-US" sz="2100" b="1" dirty="0">
                  <a:solidFill>
                    <a:srgbClr val="72CDD1"/>
                  </a:solidFill>
                  <a:latin typeface="+mn-lt"/>
                  <a:ea typeface="+mn-ea"/>
                  <a:cs typeface="+mn-cs"/>
                </a:rPr>
                <a:t>图谱构建与持续更新 → 语义查询与专项分析 → 开发者使用与 </a:t>
              </a:r>
              <a:r>
                <a:rPr lang="en-US" altLang="zh-CN" sz="2100" b="1" dirty="0">
                  <a:solidFill>
                    <a:srgbClr val="72CDD1"/>
                  </a:solidFill>
                  <a:latin typeface="+mn-lt"/>
                  <a:ea typeface="+mn-ea"/>
                  <a:cs typeface="+mn-cs"/>
                </a:rPr>
                <a:t>Agent </a:t>
              </a:r>
              <a:r>
                <a:rPr lang="zh-CN" altLang="en-US" sz="2100" b="1" dirty="0">
                  <a:solidFill>
                    <a:srgbClr val="72CDD1"/>
                  </a:solidFill>
                  <a:latin typeface="+mn-lt"/>
                  <a:ea typeface="+mn-ea"/>
                  <a:cs typeface="+mn-cs"/>
                </a:rPr>
                <a:t>接入</a:t>
              </a:r>
              <a:endParaRPr lang="zh-CN" altLang="en-US" sz="2100" b="1" dirty="0">
                <a:solidFill>
                  <a:srgbClr val="72CDD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95249" y="5622290"/>
            <a:ext cx="11031347" cy="940816"/>
            <a:chOff x="595249" y="5622290"/>
            <a:chExt cx="11031347" cy="940816"/>
          </a:xfrm>
        </p:grpSpPr>
        <p:sp>
          <p:nvSpPr>
            <p:cNvPr id="35" name="TextBox 35"/>
            <p:cNvSpPr txBox="1"/>
            <p:nvPr/>
          </p:nvSpPr>
          <p:spPr>
            <a:xfrm>
              <a:off x="595249" y="5622290"/>
              <a:ext cx="169926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不建设 Web / 图形界面；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073232" y="632841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11 / 11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rust_semantic_foundation">
  <a:themeElements>
    <a:clrScheme name="rust_semantic_foundation">
      <a:dk1>
        <a:srgbClr val="243B53"/>
      </a:dk1>
      <a:lt1>
        <a:srgbClr val="FFFFFF"/>
      </a:lt1>
      <a:dk2>
        <a:srgbClr val="1F497D"/>
      </a:dk2>
      <a:lt2>
        <a:srgbClr val="F2F6FA"/>
      </a:lt2>
      <a:accent1>
        <a:srgbClr val="17324D"/>
      </a:accent1>
      <a:accent2>
        <a:srgbClr val="008C95"/>
      </a:accent2>
      <a:accent3>
        <a:srgbClr val="D88230"/>
      </a:accent3>
      <a:accent4>
        <a:srgbClr val="17324D"/>
      </a:accent4>
      <a:accent5>
        <a:srgbClr val="60758A"/>
      </a:accent5>
      <a:accent6>
        <a:srgbClr val="D8E2EB"/>
      </a:accent6>
      <a:hlink>
        <a:srgbClr val="008C95"/>
      </a:hlink>
      <a:folHlink>
        <a:srgbClr val="D88230"/>
      </a:folHlink>
    </a:clrScheme>
    <a:fontScheme name="rust_semantic_foundation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ust_semantic_founda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rust_semantic_foundation">
  <a:themeElements>
    <a:clrScheme name="rust_semantic_foundation">
      <a:dk1>
        <a:srgbClr val="243B53"/>
      </a:dk1>
      <a:lt1>
        <a:srgbClr val="FFFFFF"/>
      </a:lt1>
      <a:dk2>
        <a:srgbClr val="1F497D"/>
      </a:dk2>
      <a:lt2>
        <a:srgbClr val="F2F6FA"/>
      </a:lt2>
      <a:accent1>
        <a:srgbClr val="17324D"/>
      </a:accent1>
      <a:accent2>
        <a:srgbClr val="008C95"/>
      </a:accent2>
      <a:accent3>
        <a:srgbClr val="D88230"/>
      </a:accent3>
      <a:accent4>
        <a:srgbClr val="17324D"/>
      </a:accent4>
      <a:accent5>
        <a:srgbClr val="60758A"/>
      </a:accent5>
      <a:accent6>
        <a:srgbClr val="D8E2EB"/>
      </a:accent6>
      <a:hlink>
        <a:srgbClr val="008C95"/>
      </a:hlink>
      <a:folHlink>
        <a:srgbClr val="D88230"/>
      </a:folHlink>
    </a:clrScheme>
    <a:fontScheme name="rust_semantic_foundation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ust_semantic_founda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2718</Words>
  <Application>WPS 演示</Application>
  <PresentationFormat>On-screen Show (16:9)</PresentationFormat>
  <Paragraphs>352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Arial</vt:lpstr>
      <vt:lpstr>宋体</vt:lpstr>
      <vt:lpstr>Wingdings</vt:lpstr>
      <vt:lpstr>Arial</vt:lpstr>
      <vt:lpstr>微软雅黑</vt:lpstr>
      <vt:lpstr>Arial Unicode MS</vt:lpstr>
      <vt:lpstr>rust_semantic_foundation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和奥妹跳舞的男孩</cp:lastModifiedBy>
  <cp:revision>3</cp:revision>
  <dcterms:created xsi:type="dcterms:W3CDTF">2026-09-23T12:30:00Z</dcterms:created>
  <dcterms:modified xsi:type="dcterms:W3CDTF">2026-09-24T03:43:35Z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6404E54F4DB44B14AF9424372BB11DC8_12</vt:lpwstr>
  </property>
</Properties>
</file>